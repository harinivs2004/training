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65"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F400E3-BF76-4BD9-1FD3-69D96AD9B58E}" v="93" dt="2026-06-17T19:30:21.4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8D36FE56-1385-46E5-8CD3-A5F792FB147E}" type="datetimeFigureOut">
              <a:t>6/17/2026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0E86C4A-905F-4C0D-8883-7EF1F1076FA6}" type="slidenum">
              <a:t>‹#›</a:t>
            </a:fld>
            <a:endParaRPr lang="en-US"/>
          </a:p>
        </p:txBody>
      </p:sp>
    </p:spTree>
    <p:extLst>
      <p:ext uri="{BB962C8B-B14F-4D97-AF65-F5344CB8AC3E}">
        <p14:creationId xmlns:p14="http://schemas.microsoft.com/office/powerpoint/2010/main" val="548247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sir, my name is Harini VS. My capstone project is AppVerse AI — a Smart App Marketplace built with Spring Boot 3.2 for backend, React.js 18 for frontend, MySQL 8 as the database, and JWT for authentication."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"AppVerse AI works like Google Play Store. I built it with 3 user roles. USER can browse and download apps. DEVELOPER can create and manage apps and see analytics. ADMIN manages the whole platform. The problems I solved include no automated review sentiment detection and no download analytics for developers."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backend I used Spring Boot 3.2 with Spring Security and JWT for authentication. Spring Data JPA handles all database operations without writing SQL. MySQL 8 stores all data. For frontend I used React.js 18 with React Router for navigation, Axios for API calls with request interceptors that automatically add the JWT token, and Context API to manage the logged-in user globally."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followed a 4-layer REST MVC architecture. React frontend runs on port 3000 and calls Spring Boot on port 8080. Every single HTTP request first passes through JwtAuthFilter which validates the JWT token. Then it reaches the Controller layer, which calls the Service layer where all business logic is. Service calls Repository which runs JPA queries on MySQL running on port 3306. All 8 tables are there in the appverse_db database."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implemented exactly 8 modules. Each module follows the same 4-layer structure — Controller receives the HTTP request, Service has the business logic, Repository talks to MySQL, and Entity is the database table class. The main modules are Authentication, App Marketplace, Developer Console, Reviews, Download Tracking, Developer Profile, Recommendations, and Admin Panel."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implemented 3 extra features on top of the 8 modules. First is Sentiment Analysis — the analyzeSentiment() private method in ReviewServiceImpl automatically checks every review comment for positive and negative keywords and stores POSITIVE, NEGATIVE, or NEUTRAL in the database. This shows as a colored badge. Second is Download Analytics — every download is recorded and developers can see a ranked list of their apps by download count. Third is Trending Apps — the backend sorts all apps by totalDownloads and returns the top 5 which appear on the home page."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"Security uses JWT. When you login, backend generates a signed token. React stores it in localStorage. Axios request interceptor automatically adds this token to every single API call in the Authorization header as Bearer token. JwtAuthFilter runs on every request, validates the token using the same secret key. If invalid or expired it returns 401. For authorization I have Role-Based Access Control. USER can browse and download. DEVELOPER can create apps and see analytics. ADMIN manages everything. Wrong-role access shows an Unauthorized page."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have 8 MySQL tables. The 6 main ones are users, app, category, review, download, and app_version. Plus developer_profile and recommendation. All tables are created automatically by Spring Boot JPA with ddl-auto=update — this means tables are created on first run and data is NEVER deleted when I restart. The key JPA relationships are User OneToOne DeveloperProfile, Category OneToMany App, App OneToMany Review and Download and AppVersion."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future enhancements I have planned 6 improvements. First, AI App Recommendations using collaborative filtering — suggest apps based on what similar users downloaded. Second, Auto Rating Calculation — currently I set average rating manually; I will make it auto-recalculate after every review. Third, Email Notifications using Spring Mail when an app is downloaded. Fourth, Advanced Search with combined filters. Fifth, Admin Charts showing registration trends and download patterns over time. Sixth, Refresh Token Support so the 10-hour JWT expiry does not force users to re-login."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a:effectLst/>
      </p:bgPr>
    </p:bg>
    <p:spTree>
      <p:nvGrpSpPr>
        <p:cNvPr id="1" name=""/>
        <p:cNvGrpSpPr/>
        <p:nvPr/>
      </p:nvGrpSpPr>
      <p:grpSpPr>
        <a:xfrm>
          <a:off x="0" y="0"/>
          <a:ext cx="0" cy="0"/>
          <a:chOff x="0" y="0"/>
          <a:chExt cx="0" cy="0"/>
        </a:xfrm>
      </p:grpSpPr>
      <p:sp>
        <p:nvSpPr>
          <p:cNvPr id="2" name="Text 0"/>
          <p:cNvSpPr/>
          <p:nvPr/>
        </p:nvSpPr>
        <p:spPr>
          <a:xfrm>
            <a:off x="548640" y="822960"/>
            <a:ext cx="8046720" cy="1280160"/>
          </a:xfrm>
          <a:prstGeom prst="rect">
            <a:avLst/>
          </a:prstGeom>
          <a:noFill/>
          <a:ln/>
        </p:spPr>
        <p:txBody>
          <a:bodyPr wrap="square"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AppVerse AI</a:t>
            </a:r>
            <a:endParaRPr lang="en-US" sz="5600" dirty="0"/>
          </a:p>
        </p:txBody>
      </p:sp>
      <p:sp>
        <p:nvSpPr>
          <p:cNvPr id="3" name="Text 1"/>
          <p:cNvSpPr/>
          <p:nvPr/>
        </p:nvSpPr>
        <p:spPr>
          <a:xfrm>
            <a:off x="548640" y="2057400"/>
            <a:ext cx="8046720" cy="475488"/>
          </a:xfrm>
          <a:prstGeom prst="rect">
            <a:avLst/>
          </a:prstGeom>
          <a:noFill/>
          <a:ln/>
        </p:spPr>
        <p:txBody>
          <a:bodyPr wrap="square" rtlCol="0" anchor="ctr"/>
          <a:lstStyle/>
          <a:p>
            <a:pPr marL="0" indent="0" algn="ctr">
              <a:buNone/>
            </a:pPr>
            <a:r>
              <a:rPr lang="en-US" sz="2000" i="1" dirty="0">
                <a:solidFill>
                  <a:srgbClr val="CADCFC"/>
                </a:solidFill>
                <a:latin typeface="Calibri" pitchFamily="34" charset="0"/>
                <a:ea typeface="Calibri" pitchFamily="34" charset="-122"/>
                <a:cs typeface="Calibri" pitchFamily="34" charset="-120"/>
              </a:rPr>
              <a:t>Smart App Marketplace &amp; Analytics Platform</a:t>
            </a:r>
            <a:endParaRPr lang="en-US" sz="2000" dirty="0"/>
          </a:p>
        </p:txBody>
      </p:sp>
      <p:sp>
        <p:nvSpPr>
          <p:cNvPr id="4" name="Shape 2"/>
          <p:cNvSpPr/>
          <p:nvPr/>
        </p:nvSpPr>
        <p:spPr>
          <a:xfrm>
            <a:off x="3291840" y="2651760"/>
            <a:ext cx="2560320" cy="36576"/>
          </a:xfrm>
          <a:prstGeom prst="rect">
            <a:avLst/>
          </a:prstGeom>
          <a:solidFill>
            <a:srgbClr val="CADCFC"/>
          </a:solidFill>
          <a:ln w="12700">
            <a:solidFill>
              <a:srgbClr val="CADCFC"/>
            </a:solidFill>
            <a:prstDash val="solid"/>
          </a:ln>
        </p:spPr>
      </p:sp>
      <p:sp>
        <p:nvSpPr>
          <p:cNvPr id="5" name="Shape 3"/>
          <p:cNvSpPr/>
          <p:nvPr/>
        </p:nvSpPr>
        <p:spPr>
          <a:xfrm>
            <a:off x="640080" y="2834640"/>
            <a:ext cx="1828800" cy="384048"/>
          </a:xfrm>
          <a:prstGeom prst="roundRect">
            <a:avLst>
              <a:gd name="adj" fmla="val 23810"/>
            </a:avLst>
          </a:prstGeom>
          <a:solidFill>
            <a:srgbClr val="1565C0">
              <a:alpha val="80000"/>
            </a:srgbClr>
          </a:solidFill>
          <a:ln w="12700">
            <a:solidFill>
              <a:srgbClr val="CADCFC"/>
            </a:solidFill>
            <a:prstDash val="solid"/>
          </a:ln>
        </p:spPr>
      </p:sp>
      <p:sp>
        <p:nvSpPr>
          <p:cNvPr id="6" name="Text 4"/>
          <p:cNvSpPr/>
          <p:nvPr/>
        </p:nvSpPr>
        <p:spPr>
          <a:xfrm>
            <a:off x="640080" y="2834640"/>
            <a:ext cx="182880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Spring Boot 3.2</a:t>
            </a:r>
            <a:endParaRPr lang="en-US" sz="1200" dirty="0"/>
          </a:p>
        </p:txBody>
      </p:sp>
      <p:sp>
        <p:nvSpPr>
          <p:cNvPr id="7" name="Shape 5"/>
          <p:cNvSpPr/>
          <p:nvPr/>
        </p:nvSpPr>
        <p:spPr>
          <a:xfrm>
            <a:off x="2633472" y="2834640"/>
            <a:ext cx="1828800" cy="384048"/>
          </a:xfrm>
          <a:prstGeom prst="roundRect">
            <a:avLst>
              <a:gd name="adj" fmla="val 23810"/>
            </a:avLst>
          </a:prstGeom>
          <a:solidFill>
            <a:srgbClr val="00695C">
              <a:alpha val="80000"/>
            </a:srgbClr>
          </a:solidFill>
          <a:ln w="12700">
            <a:solidFill>
              <a:srgbClr val="CADCFC"/>
            </a:solidFill>
            <a:prstDash val="solid"/>
          </a:ln>
        </p:spPr>
      </p:sp>
      <p:sp>
        <p:nvSpPr>
          <p:cNvPr id="8" name="Text 6"/>
          <p:cNvSpPr/>
          <p:nvPr/>
        </p:nvSpPr>
        <p:spPr>
          <a:xfrm>
            <a:off x="2633472" y="2834640"/>
            <a:ext cx="182880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React.js 18</a:t>
            </a:r>
            <a:endParaRPr lang="en-US" sz="1200" dirty="0"/>
          </a:p>
        </p:txBody>
      </p:sp>
      <p:sp>
        <p:nvSpPr>
          <p:cNvPr id="9" name="Shape 7"/>
          <p:cNvSpPr/>
          <p:nvPr/>
        </p:nvSpPr>
        <p:spPr>
          <a:xfrm>
            <a:off x="4626864" y="2834640"/>
            <a:ext cx="1828800" cy="384048"/>
          </a:xfrm>
          <a:prstGeom prst="roundRect">
            <a:avLst>
              <a:gd name="adj" fmla="val 23810"/>
            </a:avLst>
          </a:prstGeom>
          <a:solidFill>
            <a:srgbClr val="4A148C">
              <a:alpha val="80000"/>
            </a:srgbClr>
          </a:solidFill>
          <a:ln w="12700">
            <a:solidFill>
              <a:srgbClr val="CADCFC"/>
            </a:solidFill>
            <a:prstDash val="solid"/>
          </a:ln>
        </p:spPr>
      </p:sp>
      <p:sp>
        <p:nvSpPr>
          <p:cNvPr id="10" name="Text 8"/>
          <p:cNvSpPr/>
          <p:nvPr/>
        </p:nvSpPr>
        <p:spPr>
          <a:xfrm>
            <a:off x="4626864" y="2834640"/>
            <a:ext cx="182880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MySQL 8</a:t>
            </a:r>
            <a:endParaRPr lang="en-US" sz="1200" dirty="0"/>
          </a:p>
        </p:txBody>
      </p:sp>
      <p:sp>
        <p:nvSpPr>
          <p:cNvPr id="11" name="Shape 9"/>
          <p:cNvSpPr/>
          <p:nvPr/>
        </p:nvSpPr>
        <p:spPr>
          <a:xfrm>
            <a:off x="6620256" y="2834640"/>
            <a:ext cx="1828800" cy="384048"/>
          </a:xfrm>
          <a:prstGeom prst="roundRect">
            <a:avLst>
              <a:gd name="adj" fmla="val 23810"/>
            </a:avLst>
          </a:prstGeom>
          <a:solidFill>
            <a:srgbClr val="E65100">
              <a:alpha val="80000"/>
            </a:srgbClr>
          </a:solidFill>
          <a:ln w="12700">
            <a:solidFill>
              <a:srgbClr val="CADCFC"/>
            </a:solidFill>
            <a:prstDash val="solid"/>
          </a:ln>
        </p:spPr>
      </p:sp>
      <p:sp>
        <p:nvSpPr>
          <p:cNvPr id="12" name="Text 10"/>
          <p:cNvSpPr/>
          <p:nvPr/>
        </p:nvSpPr>
        <p:spPr>
          <a:xfrm>
            <a:off x="6620256" y="2834640"/>
            <a:ext cx="182880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JWT Security</a:t>
            </a:r>
            <a:endParaRPr lang="en-US" sz="1200" dirty="0"/>
          </a:p>
        </p:txBody>
      </p:sp>
      <p:sp>
        <p:nvSpPr>
          <p:cNvPr id="13" name="Text 11"/>
          <p:cNvSpPr/>
          <p:nvPr/>
        </p:nvSpPr>
        <p:spPr>
          <a:xfrm>
            <a:off x="518952" y="3401568"/>
            <a:ext cx="8046720" cy="481069"/>
          </a:xfrm>
          <a:prstGeom prst="rect">
            <a:avLst/>
          </a:prstGeom>
          <a:noFill/>
          <a:ln/>
        </p:spPr>
        <p:txBody>
          <a:bodyPr wrap="square" lIns="91440" tIns="45720" rIns="91440" bIns="4572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Presented by:  Harini VS</a:t>
            </a:r>
          </a:p>
          <a:p>
            <a:pPr algn="ctr"/>
            <a:r>
              <a:rPr lang="en-US" sz="1600" b="1" dirty="0">
                <a:solidFill>
                  <a:srgbClr val="FFFFFF"/>
                </a:solidFill>
                <a:ea typeface="Calibri"/>
                <a:cs typeface="Calibri"/>
              </a:rPr>
              <a:t>Mentored </a:t>
            </a:r>
            <a:r>
              <a:rPr lang="en-US" sz="1600" b="1">
                <a:solidFill>
                  <a:srgbClr val="FFFFFF"/>
                </a:solidFill>
                <a:ea typeface="Calibri"/>
                <a:cs typeface="Calibri"/>
              </a:rPr>
              <a:t>by: Javeed-Trainer</a:t>
            </a:r>
          </a:p>
        </p:txBody>
      </p:sp>
      <p:sp>
        <p:nvSpPr>
          <p:cNvPr id="14" name="Text 12"/>
          <p:cNvSpPr/>
          <p:nvPr/>
        </p:nvSpPr>
        <p:spPr>
          <a:xfrm>
            <a:off x="548640" y="3765072"/>
            <a:ext cx="8046720" cy="534092"/>
          </a:xfrm>
          <a:prstGeom prst="rect">
            <a:avLst/>
          </a:prstGeom>
          <a:noFill/>
          <a:ln/>
        </p:spPr>
        <p:txBody>
          <a:bodyPr wrap="square" rtlCol="0" anchor="ctr"/>
          <a:lstStyle/>
          <a:p>
            <a:pPr marL="0" indent="0" algn="ctr">
              <a:buNone/>
            </a:pPr>
            <a:r>
              <a:rPr lang="en-US" sz="1200" dirty="0">
                <a:solidFill>
                  <a:srgbClr val="90A4AE"/>
                </a:solidFill>
                <a:latin typeface="Calibri" pitchFamily="34" charset="0"/>
                <a:ea typeface="Calibri" pitchFamily="34" charset="-122"/>
                <a:cs typeface="Calibri" pitchFamily="34" charset="-120"/>
              </a:rPr>
              <a:t>Great Learning  |  JFS React Capstone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A237E"/>
          </a:solidFill>
          <a:ln w="12700">
            <a:solidFill>
              <a:srgbClr val="1A237E"/>
            </a:solidFill>
            <a:prstDash val="solid"/>
          </a:ln>
        </p:spPr>
      </p:sp>
      <p:sp>
        <p:nvSpPr>
          <p:cNvPr id="3" name="Text 1"/>
          <p:cNvSpPr/>
          <p:nvPr/>
        </p:nvSpPr>
        <p:spPr>
          <a:xfrm>
            <a:off x="365760" y="73152"/>
            <a:ext cx="8412480" cy="56692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2.  Project Overview</a:t>
            </a:r>
            <a:endParaRPr lang="en-US" sz="2800" dirty="0"/>
          </a:p>
        </p:txBody>
      </p:sp>
      <p:sp>
        <p:nvSpPr>
          <p:cNvPr id="4" name="Text 2"/>
          <p:cNvSpPr/>
          <p:nvPr/>
        </p:nvSpPr>
        <p:spPr>
          <a:xfrm>
            <a:off x="365760" y="658368"/>
            <a:ext cx="8412480" cy="329184"/>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What is AppVerse AI and who uses it?</a:t>
            </a:r>
            <a:endParaRPr lang="en-US" sz="1200" dirty="0"/>
          </a:p>
        </p:txBody>
      </p:sp>
      <p:sp>
        <p:nvSpPr>
          <p:cNvPr id="5" name="Text 3"/>
          <p:cNvSpPr/>
          <p:nvPr/>
        </p:nvSpPr>
        <p:spPr>
          <a:xfrm>
            <a:off x="0" y="4882896"/>
            <a:ext cx="9144000" cy="256032"/>
          </a:xfrm>
          <a:prstGeom prst="rect">
            <a:avLst/>
          </a:prstGeom>
          <a:noFill/>
          <a:ln/>
        </p:spPr>
        <p:txBody>
          <a:bodyPr wrap="square" lIns="0" tIns="0" rIns="0" bIns="0" rtlCol="0" anchor="ctr"/>
          <a:lstStyle/>
          <a:p>
            <a:pPr marL="0" indent="0" algn="ctr">
              <a:buNone/>
            </a:pPr>
            <a:r>
              <a:rPr lang="en-US" sz="900" dirty="0">
                <a:solidFill>
                  <a:srgbClr val="9E9E9E"/>
                </a:solidFill>
                <a:latin typeface="Calibri" pitchFamily="34" charset="0"/>
                <a:ea typeface="Calibri" pitchFamily="34" charset="-122"/>
                <a:cs typeface="Calibri" pitchFamily="34" charset="-120"/>
              </a:rPr>
              <a:t>AppVerse AI  |  Harini VS  |  Great Learning Capstone</a:t>
            </a:r>
            <a:endParaRPr lang="en-US" sz="900" dirty="0"/>
          </a:p>
        </p:txBody>
      </p:sp>
      <p:sp>
        <p:nvSpPr>
          <p:cNvPr id="6" name="Shape 4"/>
          <p:cNvSpPr/>
          <p:nvPr/>
        </p:nvSpPr>
        <p:spPr>
          <a:xfrm>
            <a:off x="274320" y="1115568"/>
            <a:ext cx="5074920" cy="3566160"/>
          </a:xfrm>
          <a:prstGeom prst="roundRect">
            <a:avLst>
              <a:gd name="adj" fmla="val 2051"/>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sp>
      <p:sp>
        <p:nvSpPr>
          <p:cNvPr id="7" name="Text 5"/>
          <p:cNvSpPr/>
          <p:nvPr/>
        </p:nvSpPr>
        <p:spPr>
          <a:xfrm>
            <a:off x="457200" y="1207008"/>
            <a:ext cx="4663440" cy="329184"/>
          </a:xfrm>
          <a:prstGeom prst="rect">
            <a:avLst/>
          </a:prstGeom>
          <a:noFill/>
          <a:ln/>
        </p:spPr>
        <p:txBody>
          <a:bodyPr wrap="square" lIns="0" tIns="0" rIns="0" bIns="0" rtlCol="0" anchor="ctr"/>
          <a:lstStyle/>
          <a:p>
            <a:pPr marL="0" indent="0">
              <a:buNone/>
            </a:pPr>
            <a:r>
              <a:rPr lang="en-US" sz="1500" b="1" dirty="0">
                <a:solidFill>
                  <a:srgbClr val="1A237E"/>
                </a:solidFill>
                <a:latin typeface="Calibri" pitchFamily="34" charset="0"/>
                <a:ea typeface="Calibri" pitchFamily="34" charset="-122"/>
                <a:cs typeface="Calibri" pitchFamily="34" charset="-120"/>
              </a:rPr>
              <a:t>What We Built</a:t>
            </a:r>
            <a:endParaRPr lang="en-US" sz="1500" dirty="0"/>
          </a:p>
        </p:txBody>
      </p:sp>
      <p:sp>
        <p:nvSpPr>
          <p:cNvPr id="8" name="Text 6"/>
          <p:cNvSpPr/>
          <p:nvPr/>
        </p:nvSpPr>
        <p:spPr>
          <a:xfrm>
            <a:off x="457200" y="1572768"/>
            <a:ext cx="4709160" cy="91440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AppVerse AI is a full stack web application that works like Google Play Store. Users can browse, download and review apps. Developers publish and manage their apps. Admins control the entire platform including users, categories, and reviews.</a:t>
            </a:r>
            <a:endParaRPr lang="en-US" sz="1200" dirty="0"/>
          </a:p>
        </p:txBody>
      </p:sp>
      <p:sp>
        <p:nvSpPr>
          <p:cNvPr id="9" name="Text 7"/>
          <p:cNvSpPr/>
          <p:nvPr/>
        </p:nvSpPr>
        <p:spPr>
          <a:xfrm>
            <a:off x="457200" y="2578608"/>
            <a:ext cx="4663440" cy="310896"/>
          </a:xfrm>
          <a:prstGeom prst="rect">
            <a:avLst/>
          </a:prstGeom>
          <a:noFill/>
          <a:ln/>
        </p:spPr>
        <p:txBody>
          <a:bodyPr wrap="square" lIns="0" tIns="0" rIns="0" bIns="0"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Problems Solved</a:t>
            </a:r>
            <a:endParaRPr lang="en-US" sz="1400" dirty="0"/>
          </a:p>
        </p:txBody>
      </p:sp>
      <p:sp>
        <p:nvSpPr>
          <p:cNvPr id="10" name="Shape 8"/>
          <p:cNvSpPr/>
          <p:nvPr/>
        </p:nvSpPr>
        <p:spPr>
          <a:xfrm>
            <a:off x="457200" y="2962656"/>
            <a:ext cx="164592" cy="164592"/>
          </a:xfrm>
          <a:prstGeom prst="ellipse">
            <a:avLst/>
          </a:prstGeom>
          <a:solidFill>
            <a:srgbClr val="B71C1C"/>
          </a:solidFill>
          <a:ln w="12700">
            <a:solidFill>
              <a:srgbClr val="B71C1C"/>
            </a:solidFill>
            <a:prstDash val="solid"/>
          </a:ln>
        </p:spPr>
      </p:sp>
      <p:sp>
        <p:nvSpPr>
          <p:cNvPr id="11" name="Text 9"/>
          <p:cNvSpPr/>
          <p:nvPr/>
        </p:nvSpPr>
        <p:spPr>
          <a:xfrm>
            <a:off x="731520" y="2926080"/>
            <a:ext cx="4434840" cy="329184"/>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No centralized platform for discovering apps</a:t>
            </a:r>
            <a:endParaRPr lang="en-US" sz="1200" dirty="0"/>
          </a:p>
        </p:txBody>
      </p:sp>
      <p:sp>
        <p:nvSpPr>
          <p:cNvPr id="12" name="Shape 10"/>
          <p:cNvSpPr/>
          <p:nvPr/>
        </p:nvSpPr>
        <p:spPr>
          <a:xfrm>
            <a:off x="457200" y="3346704"/>
            <a:ext cx="164592" cy="164592"/>
          </a:xfrm>
          <a:prstGeom prst="ellipse">
            <a:avLst/>
          </a:prstGeom>
          <a:solidFill>
            <a:srgbClr val="B71C1C"/>
          </a:solidFill>
          <a:ln w="12700">
            <a:solidFill>
              <a:srgbClr val="B71C1C"/>
            </a:solidFill>
            <a:prstDash val="solid"/>
          </a:ln>
        </p:spPr>
      </p:sp>
      <p:sp>
        <p:nvSpPr>
          <p:cNvPr id="13" name="Text 11"/>
          <p:cNvSpPr/>
          <p:nvPr/>
        </p:nvSpPr>
        <p:spPr>
          <a:xfrm>
            <a:off x="731520" y="3310128"/>
            <a:ext cx="4434840" cy="329184"/>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Reviews had no automated quality classification</a:t>
            </a:r>
            <a:endParaRPr lang="en-US" sz="1200" dirty="0"/>
          </a:p>
        </p:txBody>
      </p:sp>
      <p:sp>
        <p:nvSpPr>
          <p:cNvPr id="14" name="Shape 12"/>
          <p:cNvSpPr/>
          <p:nvPr/>
        </p:nvSpPr>
        <p:spPr>
          <a:xfrm>
            <a:off x="457200" y="3730752"/>
            <a:ext cx="164592" cy="164592"/>
          </a:xfrm>
          <a:prstGeom prst="ellipse">
            <a:avLst/>
          </a:prstGeom>
          <a:solidFill>
            <a:srgbClr val="B71C1C"/>
          </a:solidFill>
          <a:ln w="12700">
            <a:solidFill>
              <a:srgbClr val="B71C1C"/>
            </a:solidFill>
            <a:prstDash val="solid"/>
          </a:ln>
        </p:spPr>
      </p:sp>
      <p:sp>
        <p:nvSpPr>
          <p:cNvPr id="15" name="Text 13"/>
          <p:cNvSpPr/>
          <p:nvPr/>
        </p:nvSpPr>
        <p:spPr>
          <a:xfrm>
            <a:off x="731520" y="3694176"/>
            <a:ext cx="4434840" cy="329184"/>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Developers lacked analytics for their apps</a:t>
            </a:r>
            <a:endParaRPr lang="en-US" sz="1200" dirty="0"/>
          </a:p>
        </p:txBody>
      </p:sp>
      <p:sp>
        <p:nvSpPr>
          <p:cNvPr id="16" name="Shape 14"/>
          <p:cNvSpPr/>
          <p:nvPr/>
        </p:nvSpPr>
        <p:spPr>
          <a:xfrm>
            <a:off x="457200" y="4114800"/>
            <a:ext cx="164592" cy="164592"/>
          </a:xfrm>
          <a:prstGeom prst="ellipse">
            <a:avLst/>
          </a:prstGeom>
          <a:solidFill>
            <a:srgbClr val="B71C1C"/>
          </a:solidFill>
          <a:ln w="12700">
            <a:solidFill>
              <a:srgbClr val="B71C1C"/>
            </a:solidFill>
            <a:prstDash val="solid"/>
          </a:ln>
        </p:spPr>
      </p:sp>
      <p:sp>
        <p:nvSpPr>
          <p:cNvPr id="17" name="Text 15"/>
          <p:cNvSpPr/>
          <p:nvPr/>
        </p:nvSpPr>
        <p:spPr>
          <a:xfrm>
            <a:off x="731520" y="4078224"/>
            <a:ext cx="4434840" cy="329184"/>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No easy way to find trending popular apps</a:t>
            </a:r>
            <a:endParaRPr lang="en-US" sz="1200" dirty="0"/>
          </a:p>
        </p:txBody>
      </p:sp>
      <p:sp>
        <p:nvSpPr>
          <p:cNvPr id="18" name="Shape 16"/>
          <p:cNvSpPr/>
          <p:nvPr/>
        </p:nvSpPr>
        <p:spPr>
          <a:xfrm>
            <a:off x="5577840" y="1115568"/>
            <a:ext cx="3291840" cy="1078992"/>
          </a:xfrm>
          <a:prstGeom prst="roundRect">
            <a:avLst>
              <a:gd name="adj" fmla="val 6780"/>
            </a:avLst>
          </a:prstGeom>
          <a:solidFill>
            <a:srgbClr val="E3F2FD"/>
          </a:solidFill>
          <a:ln w="6350">
            <a:solidFill>
              <a:srgbClr val="DDDDDD"/>
            </a:solidFill>
            <a:prstDash val="solid"/>
          </a:ln>
          <a:effectLst>
            <a:outerShdw blurRad="63500" dist="25400" dir="2700000" algn="bl" rotWithShape="0">
              <a:srgbClr val="000000">
                <a:alpha val="10000"/>
              </a:srgbClr>
            </a:outerShdw>
          </a:effectLst>
        </p:spPr>
      </p:sp>
      <p:sp>
        <p:nvSpPr>
          <p:cNvPr id="19" name="Shape 17"/>
          <p:cNvSpPr/>
          <p:nvPr/>
        </p:nvSpPr>
        <p:spPr>
          <a:xfrm>
            <a:off x="5577840" y="1115568"/>
            <a:ext cx="3291840" cy="347472"/>
          </a:xfrm>
          <a:prstGeom prst="rect">
            <a:avLst/>
          </a:prstGeom>
          <a:solidFill>
            <a:srgbClr val="1565C0"/>
          </a:solidFill>
          <a:ln w="12700">
            <a:solidFill>
              <a:srgbClr val="1565C0"/>
            </a:solidFill>
            <a:prstDash val="solid"/>
          </a:ln>
        </p:spPr>
      </p:sp>
      <p:sp>
        <p:nvSpPr>
          <p:cNvPr id="20" name="Text 18"/>
          <p:cNvSpPr/>
          <p:nvPr/>
        </p:nvSpPr>
        <p:spPr>
          <a:xfrm>
            <a:off x="5623560" y="1115568"/>
            <a:ext cx="320040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USER</a:t>
            </a:r>
            <a:endParaRPr lang="en-US" sz="1400" dirty="0"/>
          </a:p>
        </p:txBody>
      </p:sp>
      <p:sp>
        <p:nvSpPr>
          <p:cNvPr id="21" name="Text 19"/>
          <p:cNvSpPr/>
          <p:nvPr/>
        </p:nvSpPr>
        <p:spPr>
          <a:xfrm>
            <a:off x="5669280" y="1536192"/>
            <a:ext cx="3017520" cy="566928"/>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Browse, download &amp; review apps</a:t>
            </a:r>
            <a:endParaRPr lang="en-US" sz="1200" dirty="0"/>
          </a:p>
        </p:txBody>
      </p:sp>
      <p:sp>
        <p:nvSpPr>
          <p:cNvPr id="22" name="Shape 20"/>
          <p:cNvSpPr/>
          <p:nvPr/>
        </p:nvSpPr>
        <p:spPr>
          <a:xfrm>
            <a:off x="5577840" y="2304288"/>
            <a:ext cx="3291840" cy="1078992"/>
          </a:xfrm>
          <a:prstGeom prst="roundRect">
            <a:avLst>
              <a:gd name="adj" fmla="val 6780"/>
            </a:avLst>
          </a:prstGeom>
          <a:solidFill>
            <a:srgbClr val="E8F5E9"/>
          </a:solidFill>
          <a:ln w="6350">
            <a:solidFill>
              <a:srgbClr val="DDDDDD"/>
            </a:solidFill>
            <a:prstDash val="solid"/>
          </a:ln>
          <a:effectLst>
            <a:outerShdw blurRad="63500" dist="25400" dir="2700000" algn="bl" rotWithShape="0">
              <a:srgbClr val="000000">
                <a:alpha val="10000"/>
              </a:srgbClr>
            </a:outerShdw>
          </a:effectLst>
        </p:spPr>
      </p:sp>
      <p:sp>
        <p:nvSpPr>
          <p:cNvPr id="23" name="Shape 21"/>
          <p:cNvSpPr/>
          <p:nvPr/>
        </p:nvSpPr>
        <p:spPr>
          <a:xfrm>
            <a:off x="5577840" y="2304288"/>
            <a:ext cx="3291840" cy="347472"/>
          </a:xfrm>
          <a:prstGeom prst="rect">
            <a:avLst/>
          </a:prstGeom>
          <a:solidFill>
            <a:srgbClr val="00695C"/>
          </a:solidFill>
          <a:ln w="12700">
            <a:solidFill>
              <a:srgbClr val="00695C"/>
            </a:solidFill>
            <a:prstDash val="solid"/>
          </a:ln>
        </p:spPr>
      </p:sp>
      <p:sp>
        <p:nvSpPr>
          <p:cNvPr id="24" name="Text 22"/>
          <p:cNvSpPr/>
          <p:nvPr/>
        </p:nvSpPr>
        <p:spPr>
          <a:xfrm>
            <a:off x="5623560" y="2304288"/>
            <a:ext cx="320040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DEVELOPER</a:t>
            </a:r>
            <a:endParaRPr lang="en-US" sz="1400" dirty="0"/>
          </a:p>
        </p:txBody>
      </p:sp>
      <p:sp>
        <p:nvSpPr>
          <p:cNvPr id="25" name="Text 23"/>
          <p:cNvSpPr/>
          <p:nvPr/>
        </p:nvSpPr>
        <p:spPr>
          <a:xfrm>
            <a:off x="5669280" y="2724912"/>
            <a:ext cx="3017520" cy="566928"/>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Publish apps &amp; view analytics</a:t>
            </a:r>
            <a:endParaRPr lang="en-US" sz="1200" dirty="0"/>
          </a:p>
        </p:txBody>
      </p:sp>
      <p:sp>
        <p:nvSpPr>
          <p:cNvPr id="26" name="Shape 24"/>
          <p:cNvSpPr/>
          <p:nvPr/>
        </p:nvSpPr>
        <p:spPr>
          <a:xfrm>
            <a:off x="5577840" y="3493008"/>
            <a:ext cx="3291840" cy="1078992"/>
          </a:xfrm>
          <a:prstGeom prst="roundRect">
            <a:avLst>
              <a:gd name="adj" fmla="val 6780"/>
            </a:avLst>
          </a:prstGeom>
          <a:solidFill>
            <a:srgbClr val="FCE4EC"/>
          </a:solidFill>
          <a:ln w="6350">
            <a:solidFill>
              <a:srgbClr val="DDDDDD"/>
            </a:solidFill>
            <a:prstDash val="solid"/>
          </a:ln>
          <a:effectLst>
            <a:outerShdw blurRad="63500" dist="25400" dir="2700000" algn="bl" rotWithShape="0">
              <a:srgbClr val="000000">
                <a:alpha val="10000"/>
              </a:srgbClr>
            </a:outerShdw>
          </a:effectLst>
        </p:spPr>
      </p:sp>
      <p:sp>
        <p:nvSpPr>
          <p:cNvPr id="27" name="Shape 25"/>
          <p:cNvSpPr/>
          <p:nvPr/>
        </p:nvSpPr>
        <p:spPr>
          <a:xfrm>
            <a:off x="5577840" y="3493008"/>
            <a:ext cx="3291840" cy="347472"/>
          </a:xfrm>
          <a:prstGeom prst="rect">
            <a:avLst/>
          </a:prstGeom>
          <a:solidFill>
            <a:srgbClr val="B71C1C"/>
          </a:solidFill>
          <a:ln w="12700">
            <a:solidFill>
              <a:srgbClr val="B71C1C"/>
            </a:solidFill>
            <a:prstDash val="solid"/>
          </a:ln>
        </p:spPr>
      </p:sp>
      <p:sp>
        <p:nvSpPr>
          <p:cNvPr id="28" name="Text 26"/>
          <p:cNvSpPr/>
          <p:nvPr/>
        </p:nvSpPr>
        <p:spPr>
          <a:xfrm>
            <a:off x="5623560" y="3493008"/>
            <a:ext cx="320040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ADMIN</a:t>
            </a:r>
            <a:endParaRPr lang="en-US" sz="1400" dirty="0"/>
          </a:p>
        </p:txBody>
      </p:sp>
      <p:sp>
        <p:nvSpPr>
          <p:cNvPr id="29" name="Text 27"/>
          <p:cNvSpPr/>
          <p:nvPr/>
        </p:nvSpPr>
        <p:spPr>
          <a:xfrm>
            <a:off x="5669280" y="3913632"/>
            <a:ext cx="3017520" cy="566928"/>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Manage entire platform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A237E"/>
          </a:solidFill>
          <a:ln w="12700">
            <a:solidFill>
              <a:srgbClr val="1A237E"/>
            </a:solidFill>
            <a:prstDash val="solid"/>
          </a:ln>
        </p:spPr>
      </p:sp>
      <p:sp>
        <p:nvSpPr>
          <p:cNvPr id="3" name="Text 1"/>
          <p:cNvSpPr/>
          <p:nvPr/>
        </p:nvSpPr>
        <p:spPr>
          <a:xfrm>
            <a:off x="365760" y="73152"/>
            <a:ext cx="8412480" cy="56692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3.  Technology Stack</a:t>
            </a:r>
            <a:endParaRPr lang="en-US" sz="2800" dirty="0"/>
          </a:p>
        </p:txBody>
      </p:sp>
      <p:sp>
        <p:nvSpPr>
          <p:cNvPr id="4" name="Text 2"/>
          <p:cNvSpPr/>
          <p:nvPr/>
        </p:nvSpPr>
        <p:spPr>
          <a:xfrm>
            <a:off x="365760" y="658368"/>
            <a:ext cx="8412480" cy="329184"/>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Backend and frontend tools used</a:t>
            </a:r>
            <a:endParaRPr lang="en-US" sz="1200" dirty="0"/>
          </a:p>
        </p:txBody>
      </p:sp>
      <p:sp>
        <p:nvSpPr>
          <p:cNvPr id="5" name="Text 3"/>
          <p:cNvSpPr/>
          <p:nvPr/>
        </p:nvSpPr>
        <p:spPr>
          <a:xfrm>
            <a:off x="0" y="4882896"/>
            <a:ext cx="9144000" cy="256032"/>
          </a:xfrm>
          <a:prstGeom prst="rect">
            <a:avLst/>
          </a:prstGeom>
          <a:noFill/>
          <a:ln/>
        </p:spPr>
        <p:txBody>
          <a:bodyPr wrap="square" lIns="0" tIns="0" rIns="0" bIns="0" rtlCol="0" anchor="ctr"/>
          <a:lstStyle/>
          <a:p>
            <a:pPr marL="0" indent="0" algn="ctr">
              <a:buNone/>
            </a:pPr>
            <a:r>
              <a:rPr lang="en-US" sz="900" dirty="0">
                <a:solidFill>
                  <a:srgbClr val="9E9E9E"/>
                </a:solidFill>
                <a:latin typeface="Calibri" pitchFamily="34" charset="0"/>
                <a:ea typeface="Calibri" pitchFamily="34" charset="-122"/>
                <a:cs typeface="Calibri" pitchFamily="34" charset="-120"/>
              </a:rPr>
              <a:t>AppVerse AI  |  Harini VS  |  Great Learning Capstone</a:t>
            </a:r>
            <a:endParaRPr lang="en-US" sz="900" dirty="0"/>
          </a:p>
        </p:txBody>
      </p:sp>
      <p:sp>
        <p:nvSpPr>
          <p:cNvPr id="6" name="Shape 4"/>
          <p:cNvSpPr/>
          <p:nvPr/>
        </p:nvSpPr>
        <p:spPr>
          <a:xfrm>
            <a:off x="274320" y="1115568"/>
            <a:ext cx="4206240" cy="3712464"/>
          </a:xfrm>
          <a:prstGeom prst="roundRect">
            <a:avLst>
              <a:gd name="adj" fmla="val 1970"/>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sp>
      <p:sp>
        <p:nvSpPr>
          <p:cNvPr id="7" name="Shape 5"/>
          <p:cNvSpPr/>
          <p:nvPr/>
        </p:nvSpPr>
        <p:spPr>
          <a:xfrm>
            <a:off x="274320" y="1115568"/>
            <a:ext cx="4206240" cy="402336"/>
          </a:xfrm>
          <a:prstGeom prst="rect">
            <a:avLst/>
          </a:prstGeom>
          <a:solidFill>
            <a:srgbClr val="1A237E"/>
          </a:solidFill>
          <a:ln w="12700">
            <a:solidFill>
              <a:srgbClr val="1A237E"/>
            </a:solidFill>
            <a:prstDash val="solid"/>
          </a:ln>
        </p:spPr>
      </p:sp>
      <p:sp>
        <p:nvSpPr>
          <p:cNvPr id="8" name="Text 6"/>
          <p:cNvSpPr/>
          <p:nvPr/>
        </p:nvSpPr>
        <p:spPr>
          <a:xfrm>
            <a:off x="384048" y="1115568"/>
            <a:ext cx="4023360" cy="40233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Backend</a:t>
            </a:r>
            <a:endParaRPr lang="en-US" sz="1500" dirty="0"/>
          </a:p>
        </p:txBody>
      </p:sp>
      <p:sp>
        <p:nvSpPr>
          <p:cNvPr id="9" name="Shape 7"/>
          <p:cNvSpPr/>
          <p:nvPr/>
        </p:nvSpPr>
        <p:spPr>
          <a:xfrm>
            <a:off x="438912" y="1682496"/>
            <a:ext cx="146304" cy="146304"/>
          </a:xfrm>
          <a:prstGeom prst="ellipse">
            <a:avLst/>
          </a:prstGeom>
          <a:solidFill>
            <a:srgbClr val="1A237E"/>
          </a:solidFill>
          <a:ln w="12700">
            <a:solidFill>
              <a:srgbClr val="1A237E"/>
            </a:solidFill>
            <a:prstDash val="solid"/>
          </a:ln>
        </p:spPr>
      </p:sp>
      <p:sp>
        <p:nvSpPr>
          <p:cNvPr id="10" name="Text 8"/>
          <p:cNvSpPr/>
          <p:nvPr/>
        </p:nvSpPr>
        <p:spPr>
          <a:xfrm>
            <a:off x="676656" y="16093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Spring Boot 3.2</a:t>
            </a:r>
            <a:endParaRPr lang="en-US" sz="1200" dirty="0"/>
          </a:p>
        </p:txBody>
      </p:sp>
      <p:sp>
        <p:nvSpPr>
          <p:cNvPr id="11" name="Text 9"/>
          <p:cNvSpPr/>
          <p:nvPr/>
        </p:nvSpPr>
        <p:spPr>
          <a:xfrm>
            <a:off x="676656" y="18288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REST API framework</a:t>
            </a:r>
            <a:endParaRPr lang="en-US" sz="1050" dirty="0"/>
          </a:p>
        </p:txBody>
      </p:sp>
      <p:sp>
        <p:nvSpPr>
          <p:cNvPr id="12" name="Shape 10"/>
          <p:cNvSpPr/>
          <p:nvPr/>
        </p:nvSpPr>
        <p:spPr>
          <a:xfrm>
            <a:off x="438912" y="2139696"/>
            <a:ext cx="146304" cy="146304"/>
          </a:xfrm>
          <a:prstGeom prst="ellipse">
            <a:avLst/>
          </a:prstGeom>
          <a:solidFill>
            <a:srgbClr val="1A237E"/>
          </a:solidFill>
          <a:ln w="12700">
            <a:solidFill>
              <a:srgbClr val="1A237E"/>
            </a:solidFill>
            <a:prstDash val="solid"/>
          </a:ln>
        </p:spPr>
      </p:sp>
      <p:sp>
        <p:nvSpPr>
          <p:cNvPr id="13" name="Text 11"/>
          <p:cNvSpPr/>
          <p:nvPr/>
        </p:nvSpPr>
        <p:spPr>
          <a:xfrm>
            <a:off x="676656" y="20665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Spring Security</a:t>
            </a:r>
            <a:endParaRPr lang="en-US" sz="1200" dirty="0"/>
          </a:p>
        </p:txBody>
      </p:sp>
      <p:sp>
        <p:nvSpPr>
          <p:cNvPr id="14" name="Text 12"/>
          <p:cNvSpPr/>
          <p:nvPr/>
        </p:nvSpPr>
        <p:spPr>
          <a:xfrm>
            <a:off x="676656" y="22860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Auth &amp; authorization</a:t>
            </a:r>
            <a:endParaRPr lang="en-US" sz="1050" dirty="0"/>
          </a:p>
        </p:txBody>
      </p:sp>
      <p:sp>
        <p:nvSpPr>
          <p:cNvPr id="15" name="Shape 13"/>
          <p:cNvSpPr/>
          <p:nvPr/>
        </p:nvSpPr>
        <p:spPr>
          <a:xfrm>
            <a:off x="438912" y="2596896"/>
            <a:ext cx="146304" cy="146304"/>
          </a:xfrm>
          <a:prstGeom prst="ellipse">
            <a:avLst/>
          </a:prstGeom>
          <a:solidFill>
            <a:srgbClr val="1A237E"/>
          </a:solidFill>
          <a:ln w="12700">
            <a:solidFill>
              <a:srgbClr val="1A237E"/>
            </a:solidFill>
            <a:prstDash val="solid"/>
          </a:ln>
        </p:spPr>
      </p:sp>
      <p:sp>
        <p:nvSpPr>
          <p:cNvPr id="16" name="Text 14"/>
          <p:cNvSpPr/>
          <p:nvPr/>
        </p:nvSpPr>
        <p:spPr>
          <a:xfrm>
            <a:off x="676656" y="25237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Spring Data JPA</a:t>
            </a:r>
            <a:endParaRPr lang="en-US" sz="1200" dirty="0"/>
          </a:p>
        </p:txBody>
      </p:sp>
      <p:sp>
        <p:nvSpPr>
          <p:cNvPr id="17" name="Text 15"/>
          <p:cNvSpPr/>
          <p:nvPr/>
        </p:nvSpPr>
        <p:spPr>
          <a:xfrm>
            <a:off x="676656" y="27432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ORM, no SQL needed</a:t>
            </a:r>
            <a:endParaRPr lang="en-US" sz="1050" dirty="0"/>
          </a:p>
        </p:txBody>
      </p:sp>
      <p:sp>
        <p:nvSpPr>
          <p:cNvPr id="18" name="Shape 16"/>
          <p:cNvSpPr/>
          <p:nvPr/>
        </p:nvSpPr>
        <p:spPr>
          <a:xfrm>
            <a:off x="438912" y="3054096"/>
            <a:ext cx="146304" cy="146304"/>
          </a:xfrm>
          <a:prstGeom prst="ellipse">
            <a:avLst/>
          </a:prstGeom>
          <a:solidFill>
            <a:srgbClr val="1A237E"/>
          </a:solidFill>
          <a:ln w="12700">
            <a:solidFill>
              <a:srgbClr val="1A237E"/>
            </a:solidFill>
            <a:prstDash val="solid"/>
          </a:ln>
        </p:spPr>
      </p:sp>
      <p:sp>
        <p:nvSpPr>
          <p:cNvPr id="19" name="Text 17"/>
          <p:cNvSpPr/>
          <p:nvPr/>
        </p:nvSpPr>
        <p:spPr>
          <a:xfrm>
            <a:off x="676656" y="29809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MySQL 8</a:t>
            </a:r>
            <a:endParaRPr lang="en-US" sz="1200" dirty="0"/>
          </a:p>
        </p:txBody>
      </p:sp>
      <p:sp>
        <p:nvSpPr>
          <p:cNvPr id="20" name="Text 18"/>
          <p:cNvSpPr/>
          <p:nvPr/>
        </p:nvSpPr>
        <p:spPr>
          <a:xfrm>
            <a:off x="676656" y="32004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Relational database</a:t>
            </a:r>
            <a:endParaRPr lang="en-US" sz="1050" dirty="0"/>
          </a:p>
        </p:txBody>
      </p:sp>
      <p:sp>
        <p:nvSpPr>
          <p:cNvPr id="21" name="Shape 19"/>
          <p:cNvSpPr/>
          <p:nvPr/>
        </p:nvSpPr>
        <p:spPr>
          <a:xfrm>
            <a:off x="438912" y="3511296"/>
            <a:ext cx="146304" cy="146304"/>
          </a:xfrm>
          <a:prstGeom prst="ellipse">
            <a:avLst/>
          </a:prstGeom>
          <a:solidFill>
            <a:srgbClr val="1A237E"/>
          </a:solidFill>
          <a:ln w="12700">
            <a:solidFill>
              <a:srgbClr val="1A237E"/>
            </a:solidFill>
            <a:prstDash val="solid"/>
          </a:ln>
        </p:spPr>
      </p:sp>
      <p:sp>
        <p:nvSpPr>
          <p:cNvPr id="22" name="Text 20"/>
          <p:cNvSpPr/>
          <p:nvPr/>
        </p:nvSpPr>
        <p:spPr>
          <a:xfrm>
            <a:off x="676656" y="34381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JJWT 0.11.5</a:t>
            </a:r>
            <a:endParaRPr lang="en-US" sz="1200" dirty="0"/>
          </a:p>
        </p:txBody>
      </p:sp>
      <p:sp>
        <p:nvSpPr>
          <p:cNvPr id="23" name="Text 21"/>
          <p:cNvSpPr/>
          <p:nvPr/>
        </p:nvSpPr>
        <p:spPr>
          <a:xfrm>
            <a:off x="676656" y="36576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JWT token library</a:t>
            </a:r>
            <a:endParaRPr lang="en-US" sz="1050" dirty="0"/>
          </a:p>
        </p:txBody>
      </p:sp>
      <p:sp>
        <p:nvSpPr>
          <p:cNvPr id="24" name="Shape 22"/>
          <p:cNvSpPr/>
          <p:nvPr/>
        </p:nvSpPr>
        <p:spPr>
          <a:xfrm>
            <a:off x="438912" y="3968496"/>
            <a:ext cx="146304" cy="146304"/>
          </a:xfrm>
          <a:prstGeom prst="ellipse">
            <a:avLst/>
          </a:prstGeom>
          <a:solidFill>
            <a:srgbClr val="1A237E"/>
          </a:solidFill>
          <a:ln w="12700">
            <a:solidFill>
              <a:srgbClr val="1A237E"/>
            </a:solidFill>
            <a:prstDash val="solid"/>
          </a:ln>
        </p:spPr>
      </p:sp>
      <p:sp>
        <p:nvSpPr>
          <p:cNvPr id="25" name="Text 23"/>
          <p:cNvSpPr/>
          <p:nvPr/>
        </p:nvSpPr>
        <p:spPr>
          <a:xfrm>
            <a:off x="676656" y="38953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BCrypt</a:t>
            </a:r>
            <a:endParaRPr lang="en-US" sz="1200" dirty="0"/>
          </a:p>
        </p:txBody>
      </p:sp>
      <p:sp>
        <p:nvSpPr>
          <p:cNvPr id="26" name="Text 24"/>
          <p:cNvSpPr/>
          <p:nvPr/>
        </p:nvSpPr>
        <p:spPr>
          <a:xfrm>
            <a:off x="676656" y="41148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Password encryption</a:t>
            </a:r>
            <a:endParaRPr lang="en-US" sz="1050" dirty="0"/>
          </a:p>
        </p:txBody>
      </p:sp>
      <p:sp>
        <p:nvSpPr>
          <p:cNvPr id="27" name="Shape 25"/>
          <p:cNvSpPr/>
          <p:nvPr/>
        </p:nvSpPr>
        <p:spPr>
          <a:xfrm>
            <a:off x="438912" y="4425696"/>
            <a:ext cx="146304" cy="146304"/>
          </a:xfrm>
          <a:prstGeom prst="ellipse">
            <a:avLst/>
          </a:prstGeom>
          <a:solidFill>
            <a:srgbClr val="1A237E"/>
          </a:solidFill>
          <a:ln w="12700">
            <a:solidFill>
              <a:srgbClr val="1A237E"/>
            </a:solidFill>
            <a:prstDash val="solid"/>
          </a:ln>
        </p:spPr>
      </p:sp>
      <p:sp>
        <p:nvSpPr>
          <p:cNvPr id="28" name="Text 26"/>
          <p:cNvSpPr/>
          <p:nvPr/>
        </p:nvSpPr>
        <p:spPr>
          <a:xfrm>
            <a:off x="676656" y="43525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SLF4J</a:t>
            </a:r>
            <a:endParaRPr lang="en-US" sz="1200" dirty="0"/>
          </a:p>
        </p:txBody>
      </p:sp>
      <p:sp>
        <p:nvSpPr>
          <p:cNvPr id="29" name="Text 27"/>
          <p:cNvSpPr/>
          <p:nvPr/>
        </p:nvSpPr>
        <p:spPr>
          <a:xfrm>
            <a:off x="676656" y="45720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Logging to file</a:t>
            </a:r>
            <a:endParaRPr lang="en-US" sz="1050" dirty="0"/>
          </a:p>
        </p:txBody>
      </p:sp>
      <p:sp>
        <p:nvSpPr>
          <p:cNvPr id="30" name="Shape 28"/>
          <p:cNvSpPr/>
          <p:nvPr/>
        </p:nvSpPr>
        <p:spPr>
          <a:xfrm>
            <a:off x="4754880" y="1115568"/>
            <a:ext cx="4206240" cy="3712464"/>
          </a:xfrm>
          <a:prstGeom prst="roundRect">
            <a:avLst>
              <a:gd name="adj" fmla="val 1970"/>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sp>
      <p:sp>
        <p:nvSpPr>
          <p:cNvPr id="31" name="Shape 29"/>
          <p:cNvSpPr/>
          <p:nvPr/>
        </p:nvSpPr>
        <p:spPr>
          <a:xfrm>
            <a:off x="4754880" y="1115568"/>
            <a:ext cx="4206240" cy="402336"/>
          </a:xfrm>
          <a:prstGeom prst="rect">
            <a:avLst/>
          </a:prstGeom>
          <a:solidFill>
            <a:srgbClr val="00695C"/>
          </a:solidFill>
          <a:ln w="12700">
            <a:solidFill>
              <a:srgbClr val="00695C"/>
            </a:solidFill>
            <a:prstDash val="solid"/>
          </a:ln>
        </p:spPr>
      </p:sp>
      <p:sp>
        <p:nvSpPr>
          <p:cNvPr id="32" name="Text 30"/>
          <p:cNvSpPr/>
          <p:nvPr/>
        </p:nvSpPr>
        <p:spPr>
          <a:xfrm>
            <a:off x="4864608" y="1115568"/>
            <a:ext cx="4023360" cy="40233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Frontend</a:t>
            </a:r>
            <a:endParaRPr lang="en-US" sz="1500" dirty="0"/>
          </a:p>
        </p:txBody>
      </p:sp>
      <p:sp>
        <p:nvSpPr>
          <p:cNvPr id="33" name="Shape 31"/>
          <p:cNvSpPr/>
          <p:nvPr/>
        </p:nvSpPr>
        <p:spPr>
          <a:xfrm>
            <a:off x="4919472" y="1682496"/>
            <a:ext cx="146304" cy="146304"/>
          </a:xfrm>
          <a:prstGeom prst="ellipse">
            <a:avLst/>
          </a:prstGeom>
          <a:solidFill>
            <a:srgbClr val="00695C"/>
          </a:solidFill>
          <a:ln w="12700">
            <a:solidFill>
              <a:srgbClr val="00695C"/>
            </a:solidFill>
            <a:prstDash val="solid"/>
          </a:ln>
        </p:spPr>
      </p:sp>
      <p:sp>
        <p:nvSpPr>
          <p:cNvPr id="34" name="Text 32"/>
          <p:cNvSpPr/>
          <p:nvPr/>
        </p:nvSpPr>
        <p:spPr>
          <a:xfrm>
            <a:off x="5157216" y="16093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React.js 18</a:t>
            </a:r>
            <a:endParaRPr lang="en-US" sz="1200" dirty="0"/>
          </a:p>
        </p:txBody>
      </p:sp>
      <p:sp>
        <p:nvSpPr>
          <p:cNvPr id="35" name="Text 33"/>
          <p:cNvSpPr/>
          <p:nvPr/>
        </p:nvSpPr>
        <p:spPr>
          <a:xfrm>
            <a:off x="5157216" y="18288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Component-based UI</a:t>
            </a:r>
            <a:endParaRPr lang="en-US" sz="1050" dirty="0"/>
          </a:p>
        </p:txBody>
      </p:sp>
      <p:sp>
        <p:nvSpPr>
          <p:cNvPr id="36" name="Shape 34"/>
          <p:cNvSpPr/>
          <p:nvPr/>
        </p:nvSpPr>
        <p:spPr>
          <a:xfrm>
            <a:off x="4919472" y="2139696"/>
            <a:ext cx="146304" cy="146304"/>
          </a:xfrm>
          <a:prstGeom prst="ellipse">
            <a:avLst/>
          </a:prstGeom>
          <a:solidFill>
            <a:srgbClr val="00695C"/>
          </a:solidFill>
          <a:ln w="12700">
            <a:solidFill>
              <a:srgbClr val="00695C"/>
            </a:solidFill>
            <a:prstDash val="solid"/>
          </a:ln>
        </p:spPr>
      </p:sp>
      <p:sp>
        <p:nvSpPr>
          <p:cNvPr id="37" name="Text 35"/>
          <p:cNvSpPr/>
          <p:nvPr/>
        </p:nvSpPr>
        <p:spPr>
          <a:xfrm>
            <a:off x="5157216" y="20665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React Router DOM 6</a:t>
            </a:r>
            <a:endParaRPr lang="en-US" sz="1200" dirty="0"/>
          </a:p>
        </p:txBody>
      </p:sp>
      <p:sp>
        <p:nvSpPr>
          <p:cNvPr id="38" name="Text 36"/>
          <p:cNvSpPr/>
          <p:nvPr/>
        </p:nvSpPr>
        <p:spPr>
          <a:xfrm>
            <a:off x="5157216" y="22860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Client-side routing</a:t>
            </a:r>
            <a:endParaRPr lang="en-US" sz="1050" dirty="0"/>
          </a:p>
        </p:txBody>
      </p:sp>
      <p:sp>
        <p:nvSpPr>
          <p:cNvPr id="39" name="Shape 37"/>
          <p:cNvSpPr/>
          <p:nvPr/>
        </p:nvSpPr>
        <p:spPr>
          <a:xfrm>
            <a:off x="4919472" y="2596896"/>
            <a:ext cx="146304" cy="146304"/>
          </a:xfrm>
          <a:prstGeom prst="ellipse">
            <a:avLst/>
          </a:prstGeom>
          <a:solidFill>
            <a:srgbClr val="00695C"/>
          </a:solidFill>
          <a:ln w="12700">
            <a:solidFill>
              <a:srgbClr val="00695C"/>
            </a:solidFill>
            <a:prstDash val="solid"/>
          </a:ln>
        </p:spPr>
      </p:sp>
      <p:sp>
        <p:nvSpPr>
          <p:cNvPr id="40" name="Text 38"/>
          <p:cNvSpPr/>
          <p:nvPr/>
        </p:nvSpPr>
        <p:spPr>
          <a:xfrm>
            <a:off x="5157216" y="25237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Axios</a:t>
            </a:r>
            <a:endParaRPr lang="en-US" sz="1200" dirty="0"/>
          </a:p>
        </p:txBody>
      </p:sp>
      <p:sp>
        <p:nvSpPr>
          <p:cNvPr id="41" name="Text 39"/>
          <p:cNvSpPr/>
          <p:nvPr/>
        </p:nvSpPr>
        <p:spPr>
          <a:xfrm>
            <a:off x="5157216" y="27432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HTTP client with interceptors</a:t>
            </a:r>
            <a:endParaRPr lang="en-US" sz="1050" dirty="0"/>
          </a:p>
        </p:txBody>
      </p:sp>
      <p:sp>
        <p:nvSpPr>
          <p:cNvPr id="42" name="Shape 40"/>
          <p:cNvSpPr/>
          <p:nvPr/>
        </p:nvSpPr>
        <p:spPr>
          <a:xfrm>
            <a:off x="4919472" y="3054096"/>
            <a:ext cx="146304" cy="146304"/>
          </a:xfrm>
          <a:prstGeom prst="ellipse">
            <a:avLst/>
          </a:prstGeom>
          <a:solidFill>
            <a:srgbClr val="00695C"/>
          </a:solidFill>
          <a:ln w="12700">
            <a:solidFill>
              <a:srgbClr val="00695C"/>
            </a:solidFill>
            <a:prstDash val="solid"/>
          </a:ln>
        </p:spPr>
      </p:sp>
      <p:sp>
        <p:nvSpPr>
          <p:cNvPr id="43" name="Text 41"/>
          <p:cNvSpPr/>
          <p:nvPr/>
        </p:nvSpPr>
        <p:spPr>
          <a:xfrm>
            <a:off x="5157216" y="29809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React Toastify</a:t>
            </a:r>
            <a:endParaRPr lang="en-US" sz="1200" dirty="0"/>
          </a:p>
        </p:txBody>
      </p:sp>
      <p:sp>
        <p:nvSpPr>
          <p:cNvPr id="44" name="Text 42"/>
          <p:cNvSpPr/>
          <p:nvPr/>
        </p:nvSpPr>
        <p:spPr>
          <a:xfrm>
            <a:off x="5157216" y="32004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Toast notifications</a:t>
            </a:r>
            <a:endParaRPr lang="en-US" sz="1050" dirty="0"/>
          </a:p>
        </p:txBody>
      </p:sp>
      <p:sp>
        <p:nvSpPr>
          <p:cNvPr id="45" name="Shape 43"/>
          <p:cNvSpPr/>
          <p:nvPr/>
        </p:nvSpPr>
        <p:spPr>
          <a:xfrm>
            <a:off x="4919472" y="3511296"/>
            <a:ext cx="146304" cy="146304"/>
          </a:xfrm>
          <a:prstGeom prst="ellipse">
            <a:avLst/>
          </a:prstGeom>
          <a:solidFill>
            <a:srgbClr val="00695C"/>
          </a:solidFill>
          <a:ln w="12700">
            <a:solidFill>
              <a:srgbClr val="00695C"/>
            </a:solidFill>
            <a:prstDash val="solid"/>
          </a:ln>
        </p:spPr>
      </p:sp>
      <p:sp>
        <p:nvSpPr>
          <p:cNvPr id="46" name="Text 44"/>
          <p:cNvSpPr/>
          <p:nvPr/>
        </p:nvSpPr>
        <p:spPr>
          <a:xfrm>
            <a:off x="5157216" y="34381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Context API</a:t>
            </a:r>
            <a:endParaRPr lang="en-US" sz="1200" dirty="0"/>
          </a:p>
        </p:txBody>
      </p:sp>
      <p:sp>
        <p:nvSpPr>
          <p:cNvPr id="47" name="Text 45"/>
          <p:cNvSpPr/>
          <p:nvPr/>
        </p:nvSpPr>
        <p:spPr>
          <a:xfrm>
            <a:off x="5157216" y="36576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Global auth state</a:t>
            </a:r>
            <a:endParaRPr lang="en-US" sz="1050" dirty="0"/>
          </a:p>
        </p:txBody>
      </p:sp>
      <p:sp>
        <p:nvSpPr>
          <p:cNvPr id="48" name="Shape 46"/>
          <p:cNvSpPr/>
          <p:nvPr/>
        </p:nvSpPr>
        <p:spPr>
          <a:xfrm>
            <a:off x="4919472" y="3968496"/>
            <a:ext cx="146304" cy="146304"/>
          </a:xfrm>
          <a:prstGeom prst="ellipse">
            <a:avLst/>
          </a:prstGeom>
          <a:solidFill>
            <a:srgbClr val="00695C"/>
          </a:solidFill>
          <a:ln w="12700">
            <a:solidFill>
              <a:srgbClr val="00695C"/>
            </a:solidFill>
            <a:prstDash val="solid"/>
          </a:ln>
        </p:spPr>
      </p:sp>
      <p:sp>
        <p:nvSpPr>
          <p:cNvPr id="49" name="Text 47"/>
          <p:cNvSpPr/>
          <p:nvPr/>
        </p:nvSpPr>
        <p:spPr>
          <a:xfrm>
            <a:off x="5157216" y="3895344"/>
            <a:ext cx="3712464" cy="219456"/>
          </a:xfrm>
          <a:prstGeom prst="rect">
            <a:avLst/>
          </a:prstGeom>
          <a:noFill/>
          <a:ln/>
        </p:spPr>
        <p:txBody>
          <a:bodyPr wrap="square" lIns="0" tIns="0" rIns="0" bIns="0" rtlCol="0" anchor="ctr"/>
          <a:lstStyle/>
          <a:p>
            <a:pPr marL="0" indent="0">
              <a:buNone/>
            </a:pPr>
            <a:r>
              <a:rPr lang="en-US" sz="1200" b="1" dirty="0">
                <a:solidFill>
                  <a:srgbClr val="263238"/>
                </a:solidFill>
                <a:latin typeface="Calibri" pitchFamily="34" charset="0"/>
                <a:ea typeface="Calibri" pitchFamily="34" charset="-122"/>
                <a:cs typeface="Calibri" pitchFamily="34" charset="-120"/>
              </a:rPr>
              <a:t>CSS-in-JS</a:t>
            </a:r>
            <a:endParaRPr lang="en-US" sz="1200" dirty="0"/>
          </a:p>
        </p:txBody>
      </p:sp>
      <p:sp>
        <p:nvSpPr>
          <p:cNvPr id="50" name="Text 48"/>
          <p:cNvSpPr/>
          <p:nvPr/>
        </p:nvSpPr>
        <p:spPr>
          <a:xfrm>
            <a:off x="5157216" y="4114800"/>
            <a:ext cx="3712464" cy="201168"/>
          </a:xfrm>
          <a:prstGeom prst="rect">
            <a:avLst/>
          </a:prstGeom>
          <a:noFill/>
          <a:ln/>
        </p:spPr>
        <p:txBody>
          <a:bodyPr wrap="square" lIns="0" tIns="0" rIns="0" bIns="0" rtlCol="0" anchor="ctr"/>
          <a:lstStyle/>
          <a:p>
            <a:pPr marL="0" indent="0">
              <a:buNone/>
            </a:pPr>
            <a:r>
              <a:rPr lang="en-US" sz="1050" dirty="0">
                <a:solidFill>
                  <a:srgbClr val="607D8B"/>
                </a:solidFill>
                <a:latin typeface="Calibri" pitchFamily="34" charset="0"/>
                <a:ea typeface="Calibri" pitchFamily="34" charset="-122"/>
                <a:cs typeface="Calibri" pitchFamily="34" charset="-120"/>
              </a:rPr>
              <a:t>Inline component styling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A237E"/>
          </a:solidFill>
          <a:ln w="12700">
            <a:solidFill>
              <a:srgbClr val="1A237E"/>
            </a:solidFill>
            <a:prstDash val="solid"/>
          </a:ln>
        </p:spPr>
      </p:sp>
      <p:sp>
        <p:nvSpPr>
          <p:cNvPr id="3" name="Text 1"/>
          <p:cNvSpPr/>
          <p:nvPr/>
        </p:nvSpPr>
        <p:spPr>
          <a:xfrm>
            <a:off x="365760" y="73152"/>
            <a:ext cx="8412480" cy="56692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4.  System Architecture</a:t>
            </a:r>
            <a:endParaRPr lang="en-US" sz="2800" dirty="0"/>
          </a:p>
        </p:txBody>
      </p:sp>
      <p:sp>
        <p:nvSpPr>
          <p:cNvPr id="4" name="Text 2"/>
          <p:cNvSpPr/>
          <p:nvPr/>
        </p:nvSpPr>
        <p:spPr>
          <a:xfrm>
            <a:off x="365760" y="658368"/>
            <a:ext cx="8412480" cy="329184"/>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REST MVC Layered Architecture — how all parts connect</a:t>
            </a:r>
            <a:endParaRPr lang="en-US" sz="1200" dirty="0"/>
          </a:p>
        </p:txBody>
      </p:sp>
      <p:sp>
        <p:nvSpPr>
          <p:cNvPr id="5" name="Text 3"/>
          <p:cNvSpPr/>
          <p:nvPr/>
        </p:nvSpPr>
        <p:spPr>
          <a:xfrm>
            <a:off x="0" y="4882896"/>
            <a:ext cx="9144000" cy="256032"/>
          </a:xfrm>
          <a:prstGeom prst="rect">
            <a:avLst/>
          </a:prstGeom>
          <a:noFill/>
          <a:ln/>
        </p:spPr>
        <p:txBody>
          <a:bodyPr wrap="square" lIns="0" tIns="0" rIns="0" bIns="0" rtlCol="0" anchor="ctr"/>
          <a:lstStyle/>
          <a:p>
            <a:pPr marL="0" indent="0" algn="ctr">
              <a:buNone/>
            </a:pPr>
            <a:r>
              <a:rPr lang="en-US" sz="900" dirty="0">
                <a:solidFill>
                  <a:srgbClr val="9E9E9E"/>
                </a:solidFill>
                <a:latin typeface="Calibri" pitchFamily="34" charset="0"/>
                <a:ea typeface="Calibri" pitchFamily="34" charset="-122"/>
                <a:cs typeface="Calibri" pitchFamily="34" charset="-120"/>
              </a:rPr>
              <a:t>AppVerse AI  |  Harini VS  |  Great Learning Capstone</a:t>
            </a:r>
            <a:endParaRPr lang="en-US" sz="900" dirty="0"/>
          </a:p>
        </p:txBody>
      </p:sp>
      <p:sp>
        <p:nvSpPr>
          <p:cNvPr id="6" name="Shape 4"/>
          <p:cNvSpPr/>
          <p:nvPr/>
        </p:nvSpPr>
        <p:spPr>
          <a:xfrm>
            <a:off x="1097280" y="1170432"/>
            <a:ext cx="6949440" cy="1097280"/>
          </a:xfrm>
          <a:prstGeom prst="roundRect">
            <a:avLst>
              <a:gd name="adj" fmla="val 6667"/>
            </a:avLst>
          </a:prstGeom>
          <a:solidFill>
            <a:srgbClr val="DBEAFE"/>
          </a:solidFill>
          <a:ln w="6350">
            <a:solidFill>
              <a:srgbClr val="BBBBBB"/>
            </a:solidFill>
            <a:prstDash val="solid"/>
          </a:ln>
          <a:effectLst>
            <a:outerShdw blurRad="63500" dist="25400" dir="2700000" algn="bl" rotWithShape="0">
              <a:srgbClr val="000000">
                <a:alpha val="10000"/>
              </a:srgbClr>
            </a:outerShdw>
          </a:effectLst>
        </p:spPr>
      </p:sp>
      <p:sp>
        <p:nvSpPr>
          <p:cNvPr id="7" name="Shape 5"/>
          <p:cNvSpPr/>
          <p:nvPr/>
        </p:nvSpPr>
        <p:spPr>
          <a:xfrm>
            <a:off x="1097280" y="1170432"/>
            <a:ext cx="6949440" cy="365760"/>
          </a:xfrm>
          <a:prstGeom prst="rect">
            <a:avLst/>
          </a:prstGeom>
          <a:solidFill>
            <a:srgbClr val="1565C0"/>
          </a:solidFill>
          <a:ln w="12700">
            <a:solidFill>
              <a:srgbClr val="1565C0"/>
            </a:solidFill>
            <a:prstDash val="solid"/>
          </a:ln>
        </p:spPr>
      </p:sp>
      <p:sp>
        <p:nvSpPr>
          <p:cNvPr id="8" name="Text 6"/>
          <p:cNvSpPr/>
          <p:nvPr/>
        </p:nvSpPr>
        <p:spPr>
          <a:xfrm>
            <a:off x="1207008" y="1170432"/>
            <a:ext cx="6748272"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React Frontend  (localhost:3000)</a:t>
            </a:r>
            <a:endParaRPr lang="en-US" sz="1400" dirty="0"/>
          </a:p>
        </p:txBody>
      </p:sp>
      <p:sp>
        <p:nvSpPr>
          <p:cNvPr id="9" name="Text 7"/>
          <p:cNvSpPr/>
          <p:nvPr/>
        </p:nvSpPr>
        <p:spPr>
          <a:xfrm>
            <a:off x="1207008" y="1591056"/>
            <a:ext cx="6748272" cy="603504"/>
          </a:xfrm>
          <a:prstGeom prst="rect">
            <a:avLst/>
          </a:prstGeom>
          <a:noFill/>
          <a:ln/>
        </p:spPr>
        <p:txBody>
          <a:bodyPr wrap="square" lIns="0" tIns="0" rIns="0" bIns="0" rtlCol="0" anchor="ctr"/>
          <a:lstStyle/>
          <a:p>
            <a:pPr marL="0" indent="0">
              <a:buNone/>
            </a:pPr>
            <a:r>
              <a:rPr lang="en-US" sz="1150" dirty="0">
                <a:solidFill>
                  <a:srgbClr val="607D8B"/>
                </a:solidFill>
                <a:latin typeface="Calibri" pitchFamily="34" charset="0"/>
                <a:ea typeface="Calibri" pitchFamily="34" charset="-122"/>
                <a:cs typeface="Calibri" pitchFamily="34" charset="-120"/>
              </a:rPr>
              <a:t>Login  |  Browse Apps  |  Developer Console  |  Admin Panel  |  Analytics</a:t>
            </a:r>
            <a:endParaRPr lang="en-US" sz="1150" dirty="0"/>
          </a:p>
        </p:txBody>
      </p:sp>
      <p:sp>
        <p:nvSpPr>
          <p:cNvPr id="10" name="Shape 8"/>
          <p:cNvSpPr/>
          <p:nvPr/>
        </p:nvSpPr>
        <p:spPr>
          <a:xfrm>
            <a:off x="4434840" y="2267712"/>
            <a:ext cx="274320" cy="146304"/>
          </a:xfrm>
          <a:prstGeom prst="rect">
            <a:avLst/>
          </a:prstGeom>
          <a:solidFill>
            <a:srgbClr val="90A4AE"/>
          </a:solidFill>
          <a:ln w="12700">
            <a:solidFill>
              <a:srgbClr val="90A4AE"/>
            </a:solidFill>
            <a:prstDash val="solid"/>
          </a:ln>
        </p:spPr>
      </p:sp>
      <p:sp>
        <p:nvSpPr>
          <p:cNvPr id="11" name="Text 9"/>
          <p:cNvSpPr/>
          <p:nvPr/>
        </p:nvSpPr>
        <p:spPr>
          <a:xfrm>
            <a:off x="2286000" y="2267712"/>
            <a:ext cx="4572000" cy="146304"/>
          </a:xfrm>
          <a:prstGeom prst="rect">
            <a:avLst/>
          </a:prstGeom>
          <a:noFill/>
          <a:ln/>
        </p:spPr>
        <p:txBody>
          <a:bodyPr wrap="square" lIns="0" tIns="0" rIns="0" bIns="0" rtlCol="0" anchor="ctr"/>
          <a:lstStyle/>
          <a:p>
            <a:pPr marL="0" indent="0" algn="ctr">
              <a:buNone/>
            </a:pPr>
            <a:r>
              <a:rPr lang="en-US" sz="950" dirty="0">
                <a:solidFill>
                  <a:srgbClr val="607D8B"/>
                </a:solidFill>
                <a:latin typeface="Calibri" pitchFamily="34" charset="0"/>
                <a:ea typeface="Calibri" pitchFamily="34" charset="-122"/>
                <a:cs typeface="Calibri" pitchFamily="34" charset="-120"/>
              </a:rPr>
              <a:t>HTTP Request + JWT Bearer Token</a:t>
            </a:r>
            <a:endParaRPr lang="en-US" sz="950" dirty="0"/>
          </a:p>
        </p:txBody>
      </p:sp>
      <p:sp>
        <p:nvSpPr>
          <p:cNvPr id="12" name="Shape 10"/>
          <p:cNvSpPr/>
          <p:nvPr/>
        </p:nvSpPr>
        <p:spPr>
          <a:xfrm>
            <a:off x="1097280" y="2414016"/>
            <a:ext cx="6949440" cy="1097280"/>
          </a:xfrm>
          <a:prstGeom prst="roundRect">
            <a:avLst>
              <a:gd name="adj" fmla="val 6667"/>
            </a:avLst>
          </a:prstGeom>
          <a:solidFill>
            <a:srgbClr val="1A237E"/>
          </a:solidFill>
          <a:ln w="6350">
            <a:solidFill>
              <a:srgbClr val="BBBBBB"/>
            </a:solidFill>
            <a:prstDash val="solid"/>
          </a:ln>
          <a:effectLst>
            <a:outerShdw blurRad="63500" dist="25400" dir="2700000" algn="bl" rotWithShape="0">
              <a:srgbClr val="000000">
                <a:alpha val="10000"/>
              </a:srgbClr>
            </a:outerShdw>
          </a:effectLst>
        </p:spPr>
      </p:sp>
      <p:sp>
        <p:nvSpPr>
          <p:cNvPr id="13" name="Shape 11"/>
          <p:cNvSpPr/>
          <p:nvPr/>
        </p:nvSpPr>
        <p:spPr>
          <a:xfrm>
            <a:off x="1097280" y="2414016"/>
            <a:ext cx="6949440" cy="365760"/>
          </a:xfrm>
          <a:prstGeom prst="rect">
            <a:avLst/>
          </a:prstGeom>
          <a:solidFill>
            <a:srgbClr val="1A237E"/>
          </a:solidFill>
          <a:ln w="12700">
            <a:solidFill>
              <a:srgbClr val="1A237E"/>
            </a:solidFill>
            <a:prstDash val="solid"/>
          </a:ln>
        </p:spPr>
      </p:sp>
      <p:sp>
        <p:nvSpPr>
          <p:cNvPr id="14" name="Text 12"/>
          <p:cNvSpPr/>
          <p:nvPr/>
        </p:nvSpPr>
        <p:spPr>
          <a:xfrm>
            <a:off x="1207008" y="2414016"/>
            <a:ext cx="6748272"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Spring Boot Backend  (localhost:8080)</a:t>
            </a:r>
            <a:endParaRPr lang="en-US" sz="1400" dirty="0"/>
          </a:p>
        </p:txBody>
      </p:sp>
      <p:sp>
        <p:nvSpPr>
          <p:cNvPr id="15" name="Text 13"/>
          <p:cNvSpPr/>
          <p:nvPr/>
        </p:nvSpPr>
        <p:spPr>
          <a:xfrm>
            <a:off x="1207008" y="2834640"/>
            <a:ext cx="6748272" cy="603504"/>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JwtAuthFilter  -&gt;  Controller  -&gt;  Service  -&gt;  Repository  -&gt;  Entity</a:t>
            </a:r>
            <a:endParaRPr lang="en-US" sz="1150" dirty="0"/>
          </a:p>
        </p:txBody>
      </p:sp>
      <p:sp>
        <p:nvSpPr>
          <p:cNvPr id="16" name="Shape 14"/>
          <p:cNvSpPr/>
          <p:nvPr/>
        </p:nvSpPr>
        <p:spPr>
          <a:xfrm>
            <a:off x="4434840" y="3511296"/>
            <a:ext cx="274320" cy="146304"/>
          </a:xfrm>
          <a:prstGeom prst="rect">
            <a:avLst/>
          </a:prstGeom>
          <a:solidFill>
            <a:srgbClr val="90A4AE"/>
          </a:solidFill>
          <a:ln w="12700">
            <a:solidFill>
              <a:srgbClr val="90A4AE"/>
            </a:solidFill>
            <a:prstDash val="solid"/>
          </a:ln>
        </p:spPr>
      </p:sp>
      <p:sp>
        <p:nvSpPr>
          <p:cNvPr id="17" name="Text 15"/>
          <p:cNvSpPr/>
          <p:nvPr/>
        </p:nvSpPr>
        <p:spPr>
          <a:xfrm>
            <a:off x="2286000" y="3511296"/>
            <a:ext cx="4572000" cy="146304"/>
          </a:xfrm>
          <a:prstGeom prst="rect">
            <a:avLst/>
          </a:prstGeom>
          <a:noFill/>
          <a:ln/>
        </p:spPr>
        <p:txBody>
          <a:bodyPr wrap="square" lIns="0" tIns="0" rIns="0" bIns="0" rtlCol="0" anchor="ctr"/>
          <a:lstStyle/>
          <a:p>
            <a:pPr marL="0" indent="0" algn="ctr">
              <a:buNone/>
            </a:pPr>
            <a:r>
              <a:rPr lang="en-US" sz="950" dirty="0">
                <a:solidFill>
                  <a:srgbClr val="607D8B"/>
                </a:solidFill>
                <a:latin typeface="Calibri" pitchFamily="34" charset="0"/>
                <a:ea typeface="Calibri" pitchFamily="34" charset="-122"/>
                <a:cs typeface="Calibri" pitchFamily="34" charset="-120"/>
              </a:rPr>
              <a:t>JDBC Connection</a:t>
            </a:r>
            <a:endParaRPr lang="en-US" sz="950" dirty="0"/>
          </a:p>
        </p:txBody>
      </p:sp>
      <p:sp>
        <p:nvSpPr>
          <p:cNvPr id="18" name="Shape 16"/>
          <p:cNvSpPr/>
          <p:nvPr/>
        </p:nvSpPr>
        <p:spPr>
          <a:xfrm>
            <a:off x="1097280" y="3657600"/>
            <a:ext cx="6949440" cy="1097280"/>
          </a:xfrm>
          <a:prstGeom prst="roundRect">
            <a:avLst>
              <a:gd name="adj" fmla="val 6667"/>
            </a:avLst>
          </a:prstGeom>
          <a:solidFill>
            <a:srgbClr val="DCFCE7"/>
          </a:solidFill>
          <a:ln w="6350">
            <a:solidFill>
              <a:srgbClr val="BBBBBB"/>
            </a:solidFill>
            <a:prstDash val="solid"/>
          </a:ln>
          <a:effectLst>
            <a:outerShdw blurRad="63500" dist="25400" dir="2700000" algn="bl" rotWithShape="0">
              <a:srgbClr val="000000">
                <a:alpha val="10000"/>
              </a:srgbClr>
            </a:outerShdw>
          </a:effectLst>
        </p:spPr>
      </p:sp>
      <p:sp>
        <p:nvSpPr>
          <p:cNvPr id="19" name="Shape 17"/>
          <p:cNvSpPr/>
          <p:nvPr/>
        </p:nvSpPr>
        <p:spPr>
          <a:xfrm>
            <a:off x="1097280" y="3657600"/>
            <a:ext cx="6949440" cy="365760"/>
          </a:xfrm>
          <a:prstGeom prst="rect">
            <a:avLst/>
          </a:prstGeom>
          <a:solidFill>
            <a:srgbClr val="00695C"/>
          </a:solidFill>
          <a:ln w="12700">
            <a:solidFill>
              <a:srgbClr val="00695C"/>
            </a:solidFill>
            <a:prstDash val="solid"/>
          </a:ln>
        </p:spPr>
      </p:sp>
      <p:sp>
        <p:nvSpPr>
          <p:cNvPr id="20" name="Text 18"/>
          <p:cNvSpPr/>
          <p:nvPr/>
        </p:nvSpPr>
        <p:spPr>
          <a:xfrm>
            <a:off x="1207008" y="3657600"/>
            <a:ext cx="6748272"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MySQL Database  (localhost:3306)   Database: appverse_db</a:t>
            </a:r>
            <a:endParaRPr lang="en-US" sz="1400" dirty="0"/>
          </a:p>
        </p:txBody>
      </p:sp>
      <p:sp>
        <p:nvSpPr>
          <p:cNvPr id="21" name="Text 19"/>
          <p:cNvSpPr/>
          <p:nvPr/>
        </p:nvSpPr>
        <p:spPr>
          <a:xfrm>
            <a:off x="1207008" y="4078224"/>
            <a:ext cx="6748272" cy="603504"/>
          </a:xfrm>
          <a:prstGeom prst="rect">
            <a:avLst/>
          </a:prstGeom>
          <a:noFill/>
          <a:ln/>
        </p:spPr>
        <p:txBody>
          <a:bodyPr wrap="square" lIns="0" tIns="0" rIns="0" bIns="0" rtlCol="0" anchor="ctr"/>
          <a:lstStyle/>
          <a:p>
            <a:pPr marL="0" indent="0">
              <a:buNone/>
            </a:pPr>
            <a:r>
              <a:rPr lang="en-US" sz="1150" dirty="0">
                <a:solidFill>
                  <a:srgbClr val="607D8B"/>
                </a:solidFill>
                <a:latin typeface="Calibri" pitchFamily="34" charset="0"/>
                <a:ea typeface="Calibri" pitchFamily="34" charset="-122"/>
                <a:cs typeface="Calibri" pitchFamily="34" charset="-120"/>
              </a:rPr>
              <a:t>8 Tables: users  |  app  |  category  |  review  |  download  |  app_version  |  developer_profile  |  recommendation</a:t>
            </a:r>
            <a:endParaRPr lang="en-US" sz="1150" dirty="0"/>
          </a:p>
        </p:txBody>
      </p:sp>
      <p:sp>
        <p:nvSpPr>
          <p:cNvPr id="22" name="Text 20"/>
          <p:cNvSpPr/>
          <p:nvPr/>
        </p:nvSpPr>
        <p:spPr>
          <a:xfrm>
            <a:off x="45720" y="1554480"/>
            <a:ext cx="960120" cy="457200"/>
          </a:xfrm>
          <a:prstGeom prst="rect">
            <a:avLst/>
          </a:prstGeom>
          <a:noFill/>
          <a:ln/>
        </p:spPr>
        <p:txBody>
          <a:bodyPr wrap="square" rtlCol="0" anchor="ctr"/>
          <a:lstStyle/>
          <a:p>
            <a:pPr marL="0" indent="0" algn="ctr">
              <a:buNone/>
            </a:pPr>
            <a:r>
              <a:rPr lang="en-US" sz="1000" b="1" dirty="0">
                <a:solidFill>
                  <a:srgbClr val="E65100"/>
                </a:solidFill>
                <a:latin typeface="Calibri" pitchFamily="34" charset="0"/>
                <a:ea typeface="Calibri" pitchFamily="34" charset="-122"/>
                <a:cs typeface="Calibri" pitchFamily="34" charset="-120"/>
              </a:rPr>
              <a:t>Request Flow</a:t>
            </a:r>
            <a:endParaRPr lang="en-US" sz="1000" dirty="0"/>
          </a:p>
        </p:txBody>
      </p:sp>
      <p:sp>
        <p:nvSpPr>
          <p:cNvPr id="23" name="Shape 21"/>
          <p:cNvSpPr/>
          <p:nvPr/>
        </p:nvSpPr>
        <p:spPr>
          <a:xfrm>
            <a:off x="320040" y="2084832"/>
            <a:ext cx="274320" cy="274320"/>
          </a:xfrm>
          <a:prstGeom prst="ellipse">
            <a:avLst/>
          </a:prstGeom>
          <a:solidFill>
            <a:srgbClr val="E65100"/>
          </a:solidFill>
          <a:ln w="12700">
            <a:solidFill>
              <a:srgbClr val="E65100"/>
            </a:solidFill>
            <a:prstDash val="solid"/>
          </a:ln>
        </p:spPr>
      </p:sp>
      <p:sp>
        <p:nvSpPr>
          <p:cNvPr id="24" name="Text 22"/>
          <p:cNvSpPr/>
          <p:nvPr/>
        </p:nvSpPr>
        <p:spPr>
          <a:xfrm>
            <a:off x="320040" y="2084832"/>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5" name="Shape 23"/>
          <p:cNvSpPr/>
          <p:nvPr/>
        </p:nvSpPr>
        <p:spPr>
          <a:xfrm>
            <a:off x="320040" y="2487168"/>
            <a:ext cx="274320" cy="274320"/>
          </a:xfrm>
          <a:prstGeom prst="ellipse">
            <a:avLst/>
          </a:prstGeom>
          <a:solidFill>
            <a:srgbClr val="E65100"/>
          </a:solidFill>
          <a:ln w="12700">
            <a:solidFill>
              <a:srgbClr val="E65100"/>
            </a:solidFill>
            <a:prstDash val="solid"/>
          </a:ln>
        </p:spPr>
      </p:sp>
      <p:sp>
        <p:nvSpPr>
          <p:cNvPr id="26" name="Text 24"/>
          <p:cNvSpPr/>
          <p:nvPr/>
        </p:nvSpPr>
        <p:spPr>
          <a:xfrm>
            <a:off x="320040" y="248716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Shape 25"/>
          <p:cNvSpPr/>
          <p:nvPr/>
        </p:nvSpPr>
        <p:spPr>
          <a:xfrm>
            <a:off x="320040" y="2889504"/>
            <a:ext cx="274320" cy="274320"/>
          </a:xfrm>
          <a:prstGeom prst="ellipse">
            <a:avLst/>
          </a:prstGeom>
          <a:solidFill>
            <a:srgbClr val="E65100"/>
          </a:solidFill>
          <a:ln w="12700">
            <a:solidFill>
              <a:srgbClr val="E65100"/>
            </a:solidFill>
            <a:prstDash val="solid"/>
          </a:ln>
        </p:spPr>
      </p:sp>
      <p:sp>
        <p:nvSpPr>
          <p:cNvPr id="28" name="Text 26"/>
          <p:cNvSpPr/>
          <p:nvPr/>
        </p:nvSpPr>
        <p:spPr>
          <a:xfrm>
            <a:off x="320040" y="288950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Shape 27"/>
          <p:cNvSpPr/>
          <p:nvPr/>
        </p:nvSpPr>
        <p:spPr>
          <a:xfrm>
            <a:off x="320040" y="3291840"/>
            <a:ext cx="274320" cy="274320"/>
          </a:xfrm>
          <a:prstGeom prst="ellipse">
            <a:avLst/>
          </a:prstGeom>
          <a:solidFill>
            <a:srgbClr val="E65100"/>
          </a:solidFill>
          <a:ln w="12700">
            <a:solidFill>
              <a:srgbClr val="E65100"/>
            </a:solidFill>
            <a:prstDash val="solid"/>
          </a:ln>
        </p:spPr>
      </p:sp>
      <p:sp>
        <p:nvSpPr>
          <p:cNvPr id="30" name="Text 28"/>
          <p:cNvSpPr/>
          <p:nvPr/>
        </p:nvSpPr>
        <p:spPr>
          <a:xfrm>
            <a:off x="320040" y="329184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Shape 29"/>
          <p:cNvSpPr/>
          <p:nvPr/>
        </p:nvSpPr>
        <p:spPr>
          <a:xfrm>
            <a:off x="320040" y="3694176"/>
            <a:ext cx="274320" cy="274320"/>
          </a:xfrm>
          <a:prstGeom prst="ellipse">
            <a:avLst/>
          </a:prstGeom>
          <a:solidFill>
            <a:srgbClr val="E65100"/>
          </a:solidFill>
          <a:ln w="12700">
            <a:solidFill>
              <a:srgbClr val="E65100"/>
            </a:solidFill>
            <a:prstDash val="solid"/>
          </a:ln>
        </p:spPr>
      </p:sp>
      <p:sp>
        <p:nvSpPr>
          <p:cNvPr id="32" name="Text 30"/>
          <p:cNvSpPr/>
          <p:nvPr/>
        </p:nvSpPr>
        <p:spPr>
          <a:xfrm>
            <a:off x="320040" y="3694176"/>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A237E"/>
          </a:solidFill>
          <a:ln w="12700">
            <a:solidFill>
              <a:srgbClr val="1A237E"/>
            </a:solidFill>
            <a:prstDash val="solid"/>
          </a:ln>
        </p:spPr>
      </p:sp>
      <p:sp>
        <p:nvSpPr>
          <p:cNvPr id="3" name="Text 1"/>
          <p:cNvSpPr/>
          <p:nvPr/>
        </p:nvSpPr>
        <p:spPr>
          <a:xfrm>
            <a:off x="365760" y="73152"/>
            <a:ext cx="8412480" cy="56692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5.  Modules Implemented</a:t>
            </a:r>
            <a:endParaRPr lang="en-US" sz="2800" dirty="0"/>
          </a:p>
        </p:txBody>
      </p:sp>
      <p:sp>
        <p:nvSpPr>
          <p:cNvPr id="4" name="Text 2"/>
          <p:cNvSpPr/>
          <p:nvPr/>
        </p:nvSpPr>
        <p:spPr>
          <a:xfrm>
            <a:off x="365760" y="658368"/>
            <a:ext cx="8412480" cy="329184"/>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8 backend modules — all with Controller, Service, Repository, Entity layers</a:t>
            </a:r>
            <a:endParaRPr lang="en-US" sz="1200" dirty="0"/>
          </a:p>
        </p:txBody>
      </p:sp>
      <p:sp>
        <p:nvSpPr>
          <p:cNvPr id="5" name="Text 3"/>
          <p:cNvSpPr/>
          <p:nvPr/>
        </p:nvSpPr>
        <p:spPr>
          <a:xfrm>
            <a:off x="0" y="4882896"/>
            <a:ext cx="9144000" cy="256032"/>
          </a:xfrm>
          <a:prstGeom prst="rect">
            <a:avLst/>
          </a:prstGeom>
          <a:noFill/>
          <a:ln/>
        </p:spPr>
        <p:txBody>
          <a:bodyPr wrap="square" lIns="0" tIns="0" rIns="0" bIns="0" rtlCol="0" anchor="ctr"/>
          <a:lstStyle/>
          <a:p>
            <a:pPr marL="0" indent="0" algn="ctr">
              <a:buNone/>
            </a:pPr>
            <a:r>
              <a:rPr lang="en-US" sz="900" dirty="0">
                <a:solidFill>
                  <a:srgbClr val="9E9E9E"/>
                </a:solidFill>
                <a:latin typeface="Calibri" pitchFamily="34" charset="0"/>
                <a:ea typeface="Calibri" pitchFamily="34" charset="-122"/>
                <a:cs typeface="Calibri" pitchFamily="34" charset="-120"/>
              </a:rPr>
              <a:t>AppVerse AI  |  Harini VS  |  Great Learning Capstone</a:t>
            </a:r>
            <a:endParaRPr lang="en-US" sz="900" dirty="0"/>
          </a:p>
        </p:txBody>
      </p:sp>
      <p:sp>
        <p:nvSpPr>
          <p:cNvPr id="6" name="Shape 4"/>
          <p:cNvSpPr/>
          <p:nvPr/>
        </p:nvSpPr>
        <p:spPr>
          <a:xfrm>
            <a:off x="256032" y="1170432"/>
            <a:ext cx="2029968" cy="1682496"/>
          </a:xfrm>
          <a:prstGeom prst="roundRect">
            <a:avLst>
              <a:gd name="adj" fmla="val 4348"/>
            </a:avLst>
          </a:prstGeom>
          <a:solidFill>
            <a:srgbClr val="DBEAFE"/>
          </a:solidFill>
          <a:ln w="6350">
            <a:solidFill>
              <a:srgbClr val="CCCCCC"/>
            </a:solidFill>
            <a:prstDash val="solid"/>
          </a:ln>
          <a:effectLst>
            <a:outerShdw blurRad="63500" dist="25400" dir="2700000" algn="bl" rotWithShape="0">
              <a:srgbClr val="000000">
                <a:alpha val="10000"/>
              </a:srgbClr>
            </a:outerShdw>
          </a:effectLst>
        </p:spPr>
      </p:sp>
      <p:sp>
        <p:nvSpPr>
          <p:cNvPr id="7" name="Shape 5"/>
          <p:cNvSpPr/>
          <p:nvPr/>
        </p:nvSpPr>
        <p:spPr>
          <a:xfrm>
            <a:off x="256032" y="1170432"/>
            <a:ext cx="2029968" cy="347472"/>
          </a:xfrm>
          <a:prstGeom prst="rect">
            <a:avLst/>
          </a:prstGeom>
          <a:solidFill>
            <a:srgbClr val="1565C0"/>
          </a:solidFill>
          <a:ln w="12700">
            <a:solidFill>
              <a:srgbClr val="1565C0"/>
            </a:solidFill>
            <a:prstDash val="solid"/>
          </a:ln>
        </p:spPr>
      </p:sp>
      <p:sp>
        <p:nvSpPr>
          <p:cNvPr id="8" name="Text 6"/>
          <p:cNvSpPr/>
          <p:nvPr/>
        </p:nvSpPr>
        <p:spPr>
          <a:xfrm>
            <a:off x="329184" y="1170432"/>
            <a:ext cx="1901952"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Authentication &amp; Users</a:t>
            </a:r>
            <a:endParaRPr lang="en-US" sz="1100" dirty="0"/>
          </a:p>
        </p:txBody>
      </p:sp>
      <p:sp>
        <p:nvSpPr>
          <p:cNvPr id="9" name="Text 7"/>
          <p:cNvSpPr/>
          <p:nvPr/>
        </p:nvSpPr>
        <p:spPr>
          <a:xfrm>
            <a:off x="329184" y="1609344"/>
            <a:ext cx="1901952" cy="1170432"/>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Register, login, JWT token, 3 roles</a:t>
            </a:r>
            <a:endParaRPr lang="en-US" sz="1100" dirty="0"/>
          </a:p>
        </p:txBody>
      </p:sp>
      <p:sp>
        <p:nvSpPr>
          <p:cNvPr id="10" name="Shape 8"/>
          <p:cNvSpPr/>
          <p:nvPr/>
        </p:nvSpPr>
        <p:spPr>
          <a:xfrm>
            <a:off x="2432304" y="1170432"/>
            <a:ext cx="2029968" cy="1682496"/>
          </a:xfrm>
          <a:prstGeom prst="roundRect">
            <a:avLst>
              <a:gd name="adj" fmla="val 4348"/>
            </a:avLst>
          </a:prstGeom>
          <a:solidFill>
            <a:srgbClr val="DCFCE7"/>
          </a:solidFill>
          <a:ln w="6350">
            <a:solidFill>
              <a:srgbClr val="CCCCCC"/>
            </a:solidFill>
            <a:prstDash val="solid"/>
          </a:ln>
          <a:effectLst>
            <a:outerShdw blurRad="63500" dist="25400" dir="2700000" algn="bl" rotWithShape="0">
              <a:srgbClr val="000000">
                <a:alpha val="10000"/>
              </a:srgbClr>
            </a:outerShdw>
          </a:effectLst>
        </p:spPr>
      </p:sp>
      <p:sp>
        <p:nvSpPr>
          <p:cNvPr id="11" name="Shape 9"/>
          <p:cNvSpPr/>
          <p:nvPr/>
        </p:nvSpPr>
        <p:spPr>
          <a:xfrm>
            <a:off x="2432304" y="1170432"/>
            <a:ext cx="2029968" cy="347472"/>
          </a:xfrm>
          <a:prstGeom prst="rect">
            <a:avLst/>
          </a:prstGeom>
          <a:solidFill>
            <a:srgbClr val="00695C"/>
          </a:solidFill>
          <a:ln w="12700">
            <a:solidFill>
              <a:srgbClr val="00695C"/>
            </a:solidFill>
            <a:prstDash val="solid"/>
          </a:ln>
        </p:spPr>
      </p:sp>
      <p:sp>
        <p:nvSpPr>
          <p:cNvPr id="12" name="Text 10"/>
          <p:cNvSpPr/>
          <p:nvPr/>
        </p:nvSpPr>
        <p:spPr>
          <a:xfrm>
            <a:off x="2505456" y="1170432"/>
            <a:ext cx="1901952"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App Marketplace</a:t>
            </a:r>
            <a:endParaRPr lang="en-US" sz="1100" dirty="0"/>
          </a:p>
        </p:txBody>
      </p:sp>
      <p:sp>
        <p:nvSpPr>
          <p:cNvPr id="13" name="Text 11"/>
          <p:cNvSpPr/>
          <p:nvPr/>
        </p:nvSpPr>
        <p:spPr>
          <a:xfrm>
            <a:off x="2505456" y="1609344"/>
            <a:ext cx="1901952" cy="1170432"/>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Browse, search, filter by category</a:t>
            </a:r>
            <a:endParaRPr lang="en-US" sz="1100" dirty="0"/>
          </a:p>
        </p:txBody>
      </p:sp>
      <p:sp>
        <p:nvSpPr>
          <p:cNvPr id="14" name="Shape 12"/>
          <p:cNvSpPr/>
          <p:nvPr/>
        </p:nvSpPr>
        <p:spPr>
          <a:xfrm>
            <a:off x="4608576" y="1170432"/>
            <a:ext cx="2029968" cy="1682496"/>
          </a:xfrm>
          <a:prstGeom prst="roundRect">
            <a:avLst>
              <a:gd name="adj" fmla="val 4348"/>
            </a:avLst>
          </a:prstGeom>
          <a:solidFill>
            <a:srgbClr val="EDE9FE"/>
          </a:solidFill>
          <a:ln w="6350">
            <a:solidFill>
              <a:srgbClr val="CCCCCC"/>
            </a:solidFill>
            <a:prstDash val="solid"/>
          </a:ln>
          <a:effectLst>
            <a:outerShdw blurRad="63500" dist="25400" dir="2700000" algn="bl" rotWithShape="0">
              <a:srgbClr val="000000">
                <a:alpha val="10000"/>
              </a:srgbClr>
            </a:outerShdw>
          </a:effectLst>
        </p:spPr>
      </p:sp>
      <p:sp>
        <p:nvSpPr>
          <p:cNvPr id="15" name="Shape 13"/>
          <p:cNvSpPr/>
          <p:nvPr/>
        </p:nvSpPr>
        <p:spPr>
          <a:xfrm>
            <a:off x="4608576" y="1170432"/>
            <a:ext cx="2029968" cy="347472"/>
          </a:xfrm>
          <a:prstGeom prst="rect">
            <a:avLst/>
          </a:prstGeom>
          <a:solidFill>
            <a:srgbClr val="4A148C"/>
          </a:solidFill>
          <a:ln w="12700">
            <a:solidFill>
              <a:srgbClr val="4A148C"/>
            </a:solidFill>
            <a:prstDash val="solid"/>
          </a:ln>
        </p:spPr>
      </p:sp>
      <p:sp>
        <p:nvSpPr>
          <p:cNvPr id="16" name="Text 14"/>
          <p:cNvSpPr/>
          <p:nvPr/>
        </p:nvSpPr>
        <p:spPr>
          <a:xfrm>
            <a:off x="4681728" y="1170432"/>
            <a:ext cx="1901952"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Developer Console</a:t>
            </a:r>
            <a:endParaRPr lang="en-US" sz="1100" dirty="0"/>
          </a:p>
        </p:txBody>
      </p:sp>
      <p:sp>
        <p:nvSpPr>
          <p:cNvPr id="17" name="Text 15"/>
          <p:cNvSpPr/>
          <p:nvPr/>
        </p:nvSpPr>
        <p:spPr>
          <a:xfrm>
            <a:off x="4681728" y="1609344"/>
            <a:ext cx="1901952" cy="1170432"/>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Create, update, delete apps + versions</a:t>
            </a:r>
            <a:endParaRPr lang="en-US" sz="1100" dirty="0"/>
          </a:p>
        </p:txBody>
      </p:sp>
      <p:sp>
        <p:nvSpPr>
          <p:cNvPr id="18" name="Shape 16"/>
          <p:cNvSpPr/>
          <p:nvPr/>
        </p:nvSpPr>
        <p:spPr>
          <a:xfrm>
            <a:off x="6784848" y="1170432"/>
            <a:ext cx="2029968" cy="1682496"/>
          </a:xfrm>
          <a:prstGeom prst="roundRect">
            <a:avLst>
              <a:gd name="adj" fmla="val 4348"/>
            </a:avLst>
          </a:prstGeom>
          <a:solidFill>
            <a:srgbClr val="FEF9C3"/>
          </a:solidFill>
          <a:ln w="6350">
            <a:solidFill>
              <a:srgbClr val="CCCCCC"/>
            </a:solidFill>
            <a:prstDash val="solid"/>
          </a:ln>
          <a:effectLst>
            <a:outerShdw blurRad="63500" dist="25400" dir="2700000" algn="bl" rotWithShape="0">
              <a:srgbClr val="000000">
                <a:alpha val="10000"/>
              </a:srgbClr>
            </a:outerShdw>
          </a:effectLst>
        </p:spPr>
      </p:sp>
      <p:sp>
        <p:nvSpPr>
          <p:cNvPr id="19" name="Shape 17"/>
          <p:cNvSpPr/>
          <p:nvPr/>
        </p:nvSpPr>
        <p:spPr>
          <a:xfrm>
            <a:off x="6784848" y="1170432"/>
            <a:ext cx="2029968" cy="347472"/>
          </a:xfrm>
          <a:prstGeom prst="rect">
            <a:avLst/>
          </a:prstGeom>
          <a:solidFill>
            <a:srgbClr val="92400E"/>
          </a:solidFill>
          <a:ln w="12700">
            <a:solidFill>
              <a:srgbClr val="92400E"/>
            </a:solidFill>
            <a:prstDash val="solid"/>
          </a:ln>
        </p:spPr>
      </p:sp>
      <p:sp>
        <p:nvSpPr>
          <p:cNvPr id="20" name="Text 18"/>
          <p:cNvSpPr/>
          <p:nvPr/>
        </p:nvSpPr>
        <p:spPr>
          <a:xfrm>
            <a:off x="6858000" y="1170432"/>
            <a:ext cx="1901952"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Reviews &amp; Ratings</a:t>
            </a:r>
            <a:endParaRPr lang="en-US" sz="1100" dirty="0"/>
          </a:p>
        </p:txBody>
      </p:sp>
      <p:sp>
        <p:nvSpPr>
          <p:cNvPr id="21" name="Text 19"/>
          <p:cNvSpPr/>
          <p:nvPr/>
        </p:nvSpPr>
        <p:spPr>
          <a:xfrm>
            <a:off x="6858000" y="1609344"/>
            <a:ext cx="1901952" cy="1170432"/>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Star ratings 1-5 with validation</a:t>
            </a:r>
            <a:endParaRPr lang="en-US" sz="1100" dirty="0"/>
          </a:p>
        </p:txBody>
      </p:sp>
      <p:sp>
        <p:nvSpPr>
          <p:cNvPr id="22" name="Shape 20"/>
          <p:cNvSpPr/>
          <p:nvPr/>
        </p:nvSpPr>
        <p:spPr>
          <a:xfrm>
            <a:off x="256032" y="2999232"/>
            <a:ext cx="2029968" cy="1682496"/>
          </a:xfrm>
          <a:prstGeom prst="roundRect">
            <a:avLst>
              <a:gd name="adj" fmla="val 4348"/>
            </a:avLst>
          </a:prstGeom>
          <a:solidFill>
            <a:srgbClr val="FCE4EC"/>
          </a:solidFill>
          <a:ln w="6350">
            <a:solidFill>
              <a:srgbClr val="CCCCCC"/>
            </a:solidFill>
            <a:prstDash val="solid"/>
          </a:ln>
          <a:effectLst>
            <a:outerShdw blurRad="63500" dist="25400" dir="2700000" algn="bl" rotWithShape="0">
              <a:srgbClr val="000000">
                <a:alpha val="10000"/>
              </a:srgbClr>
            </a:outerShdw>
          </a:effectLst>
        </p:spPr>
      </p:sp>
      <p:sp>
        <p:nvSpPr>
          <p:cNvPr id="23" name="Shape 21"/>
          <p:cNvSpPr/>
          <p:nvPr/>
        </p:nvSpPr>
        <p:spPr>
          <a:xfrm>
            <a:off x="256032" y="2999232"/>
            <a:ext cx="2029968" cy="347472"/>
          </a:xfrm>
          <a:prstGeom prst="rect">
            <a:avLst/>
          </a:prstGeom>
          <a:solidFill>
            <a:srgbClr val="B71C1C"/>
          </a:solidFill>
          <a:ln w="12700">
            <a:solidFill>
              <a:srgbClr val="B71C1C"/>
            </a:solidFill>
            <a:prstDash val="solid"/>
          </a:ln>
        </p:spPr>
      </p:sp>
      <p:sp>
        <p:nvSpPr>
          <p:cNvPr id="24" name="Text 22"/>
          <p:cNvSpPr/>
          <p:nvPr/>
        </p:nvSpPr>
        <p:spPr>
          <a:xfrm>
            <a:off x="329184" y="2999232"/>
            <a:ext cx="1901952"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Download Tracking</a:t>
            </a:r>
            <a:endParaRPr lang="en-US" sz="1100" dirty="0"/>
          </a:p>
        </p:txBody>
      </p:sp>
      <p:sp>
        <p:nvSpPr>
          <p:cNvPr id="25" name="Text 23"/>
          <p:cNvSpPr/>
          <p:nvPr/>
        </p:nvSpPr>
        <p:spPr>
          <a:xfrm>
            <a:off x="329184" y="3438144"/>
            <a:ext cx="1901952" cy="1170432"/>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Records each download, updates count</a:t>
            </a:r>
            <a:endParaRPr lang="en-US" sz="1100" dirty="0"/>
          </a:p>
        </p:txBody>
      </p:sp>
      <p:sp>
        <p:nvSpPr>
          <p:cNvPr id="26" name="Shape 24"/>
          <p:cNvSpPr/>
          <p:nvPr/>
        </p:nvSpPr>
        <p:spPr>
          <a:xfrm>
            <a:off x="2432304" y="2999232"/>
            <a:ext cx="2029968" cy="1682496"/>
          </a:xfrm>
          <a:prstGeom prst="roundRect">
            <a:avLst>
              <a:gd name="adj" fmla="val 4348"/>
            </a:avLst>
          </a:prstGeom>
          <a:solidFill>
            <a:srgbClr val="E3F2FD"/>
          </a:solidFill>
          <a:ln w="6350">
            <a:solidFill>
              <a:srgbClr val="CCCCCC"/>
            </a:solidFill>
            <a:prstDash val="solid"/>
          </a:ln>
          <a:effectLst>
            <a:outerShdw blurRad="63500" dist="25400" dir="2700000" algn="bl" rotWithShape="0">
              <a:srgbClr val="000000">
                <a:alpha val="10000"/>
              </a:srgbClr>
            </a:outerShdw>
          </a:effectLst>
        </p:spPr>
      </p:sp>
      <p:sp>
        <p:nvSpPr>
          <p:cNvPr id="27" name="Shape 25"/>
          <p:cNvSpPr/>
          <p:nvPr/>
        </p:nvSpPr>
        <p:spPr>
          <a:xfrm>
            <a:off x="2432304" y="2999232"/>
            <a:ext cx="2029968" cy="347472"/>
          </a:xfrm>
          <a:prstGeom prst="rect">
            <a:avLst/>
          </a:prstGeom>
          <a:solidFill>
            <a:srgbClr val="0277BD"/>
          </a:solidFill>
          <a:ln w="12700">
            <a:solidFill>
              <a:srgbClr val="0277BD"/>
            </a:solidFill>
            <a:prstDash val="solid"/>
          </a:ln>
        </p:spPr>
      </p:sp>
      <p:sp>
        <p:nvSpPr>
          <p:cNvPr id="28" name="Text 26"/>
          <p:cNvSpPr/>
          <p:nvPr/>
        </p:nvSpPr>
        <p:spPr>
          <a:xfrm>
            <a:off x="2505456" y="2999232"/>
            <a:ext cx="1901952"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Developer Profile</a:t>
            </a:r>
            <a:endParaRPr lang="en-US" sz="1100" dirty="0"/>
          </a:p>
        </p:txBody>
      </p:sp>
      <p:sp>
        <p:nvSpPr>
          <p:cNvPr id="29" name="Text 27"/>
          <p:cNvSpPr/>
          <p:nvPr/>
        </p:nvSpPr>
        <p:spPr>
          <a:xfrm>
            <a:off x="2505456" y="3438144"/>
            <a:ext cx="1901952" cy="1170432"/>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Company name, website, bio</a:t>
            </a:r>
            <a:endParaRPr lang="en-US" sz="1100" dirty="0"/>
          </a:p>
        </p:txBody>
      </p:sp>
      <p:sp>
        <p:nvSpPr>
          <p:cNvPr id="30" name="Shape 28"/>
          <p:cNvSpPr/>
          <p:nvPr/>
        </p:nvSpPr>
        <p:spPr>
          <a:xfrm>
            <a:off x="4608576" y="2999232"/>
            <a:ext cx="2029968" cy="1682496"/>
          </a:xfrm>
          <a:prstGeom prst="roundRect">
            <a:avLst>
              <a:gd name="adj" fmla="val 4348"/>
            </a:avLst>
          </a:prstGeom>
          <a:solidFill>
            <a:srgbClr val="FEE2E2"/>
          </a:solidFill>
          <a:ln w="6350">
            <a:solidFill>
              <a:srgbClr val="CCCCCC"/>
            </a:solidFill>
            <a:prstDash val="solid"/>
          </a:ln>
          <a:effectLst>
            <a:outerShdw blurRad="63500" dist="25400" dir="2700000" algn="bl" rotWithShape="0">
              <a:srgbClr val="000000">
                <a:alpha val="10000"/>
              </a:srgbClr>
            </a:outerShdw>
          </a:effectLst>
        </p:spPr>
      </p:sp>
      <p:sp>
        <p:nvSpPr>
          <p:cNvPr id="31" name="Shape 29"/>
          <p:cNvSpPr/>
          <p:nvPr/>
        </p:nvSpPr>
        <p:spPr>
          <a:xfrm>
            <a:off x="4608576" y="2999232"/>
            <a:ext cx="2029968" cy="347472"/>
          </a:xfrm>
          <a:prstGeom prst="rect">
            <a:avLst/>
          </a:prstGeom>
          <a:solidFill>
            <a:srgbClr val="991B1B"/>
          </a:solidFill>
          <a:ln w="12700">
            <a:solidFill>
              <a:srgbClr val="991B1B"/>
            </a:solidFill>
            <a:prstDash val="solid"/>
          </a:ln>
        </p:spPr>
      </p:sp>
      <p:sp>
        <p:nvSpPr>
          <p:cNvPr id="32" name="Text 30"/>
          <p:cNvSpPr/>
          <p:nvPr/>
        </p:nvSpPr>
        <p:spPr>
          <a:xfrm>
            <a:off x="4681728" y="2999232"/>
            <a:ext cx="1901952"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Recommendations</a:t>
            </a:r>
            <a:endParaRPr lang="en-US" sz="1100" dirty="0"/>
          </a:p>
        </p:txBody>
      </p:sp>
      <p:sp>
        <p:nvSpPr>
          <p:cNvPr id="33" name="Text 31"/>
          <p:cNvSpPr/>
          <p:nvPr/>
        </p:nvSpPr>
        <p:spPr>
          <a:xfrm>
            <a:off x="4681728" y="3438144"/>
            <a:ext cx="1901952" cy="1170432"/>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Personal app lists with score 0-10</a:t>
            </a:r>
            <a:endParaRPr lang="en-US" sz="1100" dirty="0"/>
          </a:p>
        </p:txBody>
      </p:sp>
      <p:sp>
        <p:nvSpPr>
          <p:cNvPr id="34" name="Shape 32"/>
          <p:cNvSpPr/>
          <p:nvPr/>
        </p:nvSpPr>
        <p:spPr>
          <a:xfrm>
            <a:off x="6784848" y="2999232"/>
            <a:ext cx="2029968" cy="1682496"/>
          </a:xfrm>
          <a:prstGeom prst="roundRect">
            <a:avLst>
              <a:gd name="adj" fmla="val 4348"/>
            </a:avLst>
          </a:prstGeom>
          <a:solidFill>
            <a:srgbClr val="ECFDF5"/>
          </a:solidFill>
          <a:ln w="6350">
            <a:solidFill>
              <a:srgbClr val="CCCCCC"/>
            </a:solidFill>
            <a:prstDash val="solid"/>
          </a:ln>
          <a:effectLst>
            <a:outerShdw blurRad="63500" dist="25400" dir="2700000" algn="bl" rotWithShape="0">
              <a:srgbClr val="000000">
                <a:alpha val="10000"/>
              </a:srgbClr>
            </a:outerShdw>
          </a:effectLst>
        </p:spPr>
      </p:sp>
      <p:sp>
        <p:nvSpPr>
          <p:cNvPr id="35" name="Shape 33"/>
          <p:cNvSpPr/>
          <p:nvPr/>
        </p:nvSpPr>
        <p:spPr>
          <a:xfrm>
            <a:off x="6784848" y="2999232"/>
            <a:ext cx="2029968" cy="347472"/>
          </a:xfrm>
          <a:prstGeom prst="rect">
            <a:avLst/>
          </a:prstGeom>
          <a:solidFill>
            <a:srgbClr val="1B5E20"/>
          </a:solidFill>
          <a:ln w="12700">
            <a:solidFill>
              <a:srgbClr val="1B5E20"/>
            </a:solidFill>
            <a:prstDash val="solid"/>
          </a:ln>
        </p:spPr>
      </p:sp>
      <p:sp>
        <p:nvSpPr>
          <p:cNvPr id="36" name="Text 34"/>
          <p:cNvSpPr/>
          <p:nvPr/>
        </p:nvSpPr>
        <p:spPr>
          <a:xfrm>
            <a:off x="6858000" y="2999232"/>
            <a:ext cx="1901952"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Admin Panel</a:t>
            </a:r>
            <a:endParaRPr lang="en-US" sz="1100" dirty="0"/>
          </a:p>
        </p:txBody>
      </p:sp>
      <p:sp>
        <p:nvSpPr>
          <p:cNvPr id="37" name="Text 35"/>
          <p:cNvSpPr/>
          <p:nvPr/>
        </p:nvSpPr>
        <p:spPr>
          <a:xfrm>
            <a:off x="6858000" y="3438144"/>
            <a:ext cx="1901952" cy="1170432"/>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Full user/app/category management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A237E"/>
          </a:solidFill>
          <a:ln w="12700">
            <a:solidFill>
              <a:srgbClr val="1A237E"/>
            </a:solidFill>
            <a:prstDash val="solid"/>
          </a:ln>
        </p:spPr>
      </p:sp>
      <p:sp>
        <p:nvSpPr>
          <p:cNvPr id="3" name="Text 1"/>
          <p:cNvSpPr/>
          <p:nvPr/>
        </p:nvSpPr>
        <p:spPr>
          <a:xfrm>
            <a:off x="365760" y="73152"/>
            <a:ext cx="8412480" cy="56692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6.  Key AI &amp; Analytics Features</a:t>
            </a:r>
            <a:endParaRPr lang="en-US" sz="2800" dirty="0"/>
          </a:p>
        </p:txBody>
      </p:sp>
      <p:sp>
        <p:nvSpPr>
          <p:cNvPr id="4" name="Text 2"/>
          <p:cNvSpPr/>
          <p:nvPr/>
        </p:nvSpPr>
        <p:spPr>
          <a:xfrm>
            <a:off x="365760" y="658368"/>
            <a:ext cx="8412480" cy="329184"/>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3 advanced features added beyond the core modules</a:t>
            </a:r>
            <a:endParaRPr lang="en-US" sz="1200" dirty="0"/>
          </a:p>
        </p:txBody>
      </p:sp>
      <p:sp>
        <p:nvSpPr>
          <p:cNvPr id="5" name="Text 3"/>
          <p:cNvSpPr/>
          <p:nvPr/>
        </p:nvSpPr>
        <p:spPr>
          <a:xfrm>
            <a:off x="0" y="4882896"/>
            <a:ext cx="9144000" cy="256032"/>
          </a:xfrm>
          <a:prstGeom prst="rect">
            <a:avLst/>
          </a:prstGeom>
          <a:noFill/>
          <a:ln/>
        </p:spPr>
        <p:txBody>
          <a:bodyPr wrap="square" lIns="0" tIns="0" rIns="0" bIns="0" rtlCol="0" anchor="ctr"/>
          <a:lstStyle/>
          <a:p>
            <a:pPr marL="0" indent="0" algn="ctr">
              <a:buNone/>
            </a:pPr>
            <a:r>
              <a:rPr lang="en-US" sz="900" dirty="0">
                <a:solidFill>
                  <a:srgbClr val="9E9E9E"/>
                </a:solidFill>
                <a:latin typeface="Calibri" pitchFamily="34" charset="0"/>
                <a:ea typeface="Calibri" pitchFamily="34" charset="-122"/>
                <a:cs typeface="Calibri" pitchFamily="34" charset="-120"/>
              </a:rPr>
              <a:t>AppVerse AI  |  Harini VS  |  Great Learning Capstone</a:t>
            </a:r>
            <a:endParaRPr lang="en-US" sz="900" dirty="0"/>
          </a:p>
        </p:txBody>
      </p:sp>
      <p:sp>
        <p:nvSpPr>
          <p:cNvPr id="6" name="Shape 4"/>
          <p:cNvSpPr/>
          <p:nvPr/>
        </p:nvSpPr>
        <p:spPr>
          <a:xfrm>
            <a:off x="256032" y="1133856"/>
            <a:ext cx="8631936" cy="1152144"/>
          </a:xfrm>
          <a:prstGeom prst="roundRect">
            <a:avLst>
              <a:gd name="adj" fmla="val 6349"/>
            </a:avLst>
          </a:prstGeom>
          <a:solidFill>
            <a:srgbClr val="EEF2FF"/>
          </a:solidFill>
          <a:ln w="6350">
            <a:solidFill>
              <a:srgbClr val="CCCCCC"/>
            </a:solidFill>
            <a:prstDash val="solid"/>
          </a:ln>
          <a:effectLst>
            <a:outerShdw blurRad="63500" dist="25400" dir="2700000" algn="bl" rotWithShape="0">
              <a:srgbClr val="000000">
                <a:alpha val="10000"/>
              </a:srgbClr>
            </a:outerShdw>
          </a:effectLst>
        </p:spPr>
      </p:sp>
      <p:sp>
        <p:nvSpPr>
          <p:cNvPr id="7" name="Shape 5"/>
          <p:cNvSpPr/>
          <p:nvPr/>
        </p:nvSpPr>
        <p:spPr>
          <a:xfrm>
            <a:off x="347472" y="1481328"/>
            <a:ext cx="384048" cy="384048"/>
          </a:xfrm>
          <a:prstGeom prst="ellipse">
            <a:avLst/>
          </a:prstGeom>
          <a:solidFill>
            <a:srgbClr val="1A237E"/>
          </a:solidFill>
          <a:ln w="12700">
            <a:solidFill>
              <a:srgbClr val="1A237E"/>
            </a:solidFill>
            <a:prstDash val="solid"/>
          </a:ln>
        </p:spPr>
      </p:sp>
      <p:sp>
        <p:nvSpPr>
          <p:cNvPr id="8" name="Text 6"/>
          <p:cNvSpPr/>
          <p:nvPr/>
        </p:nvSpPr>
        <p:spPr>
          <a:xfrm>
            <a:off x="347472" y="1481328"/>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859536" y="1188720"/>
            <a:ext cx="7863840" cy="310896"/>
          </a:xfrm>
          <a:prstGeom prst="rect">
            <a:avLst/>
          </a:prstGeom>
          <a:noFill/>
          <a:ln/>
        </p:spPr>
        <p:txBody>
          <a:bodyPr wrap="square" lIns="0" tIns="0" rIns="0" bIns="0"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Review Sentiment Analysis</a:t>
            </a:r>
            <a:endParaRPr lang="en-US" sz="1400" dirty="0"/>
          </a:p>
        </p:txBody>
      </p:sp>
      <p:sp>
        <p:nvSpPr>
          <p:cNvPr id="10" name="Shape 8"/>
          <p:cNvSpPr/>
          <p:nvPr/>
        </p:nvSpPr>
        <p:spPr>
          <a:xfrm>
            <a:off x="859536" y="1591056"/>
            <a:ext cx="109728" cy="109728"/>
          </a:xfrm>
          <a:prstGeom prst="ellipse">
            <a:avLst/>
          </a:prstGeom>
          <a:solidFill>
            <a:srgbClr val="1A237E"/>
          </a:solidFill>
          <a:ln w="12700">
            <a:solidFill>
              <a:srgbClr val="1A237E"/>
            </a:solidFill>
            <a:prstDash val="solid"/>
          </a:ln>
        </p:spPr>
      </p:sp>
      <p:sp>
        <p:nvSpPr>
          <p:cNvPr id="11" name="Text 9"/>
          <p:cNvSpPr/>
          <p:nvPr/>
        </p:nvSpPr>
        <p:spPr>
          <a:xfrm>
            <a:off x="1042416" y="1554480"/>
            <a:ext cx="361188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When user posts a review, analyzeSentiment() runs automatically</a:t>
            </a:r>
            <a:endParaRPr lang="en-US" sz="1050" dirty="0"/>
          </a:p>
        </p:txBody>
      </p:sp>
      <p:sp>
        <p:nvSpPr>
          <p:cNvPr id="12" name="Shape 10"/>
          <p:cNvSpPr/>
          <p:nvPr/>
        </p:nvSpPr>
        <p:spPr>
          <a:xfrm>
            <a:off x="859536" y="1847088"/>
            <a:ext cx="109728" cy="109728"/>
          </a:xfrm>
          <a:prstGeom prst="ellipse">
            <a:avLst/>
          </a:prstGeom>
          <a:solidFill>
            <a:srgbClr val="1A237E"/>
          </a:solidFill>
          <a:ln w="12700">
            <a:solidFill>
              <a:srgbClr val="1A237E"/>
            </a:solidFill>
            <a:prstDash val="solid"/>
          </a:ln>
        </p:spPr>
      </p:sp>
      <p:sp>
        <p:nvSpPr>
          <p:cNvPr id="13" name="Text 11"/>
          <p:cNvSpPr/>
          <p:nvPr/>
        </p:nvSpPr>
        <p:spPr>
          <a:xfrm>
            <a:off x="1042416" y="1810512"/>
            <a:ext cx="361188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Checks positive words: amazing, great, excellent, love, best...</a:t>
            </a:r>
            <a:endParaRPr lang="en-US" sz="1050" dirty="0"/>
          </a:p>
        </p:txBody>
      </p:sp>
      <p:sp>
        <p:nvSpPr>
          <p:cNvPr id="14" name="Shape 12"/>
          <p:cNvSpPr/>
          <p:nvPr/>
        </p:nvSpPr>
        <p:spPr>
          <a:xfrm>
            <a:off x="859536" y="2103120"/>
            <a:ext cx="109728" cy="109728"/>
          </a:xfrm>
          <a:prstGeom prst="ellipse">
            <a:avLst/>
          </a:prstGeom>
          <a:solidFill>
            <a:srgbClr val="1A237E"/>
          </a:solidFill>
          <a:ln w="12700">
            <a:solidFill>
              <a:srgbClr val="1A237E"/>
            </a:solidFill>
            <a:prstDash val="solid"/>
          </a:ln>
        </p:spPr>
      </p:sp>
      <p:sp>
        <p:nvSpPr>
          <p:cNvPr id="15" name="Text 13"/>
          <p:cNvSpPr/>
          <p:nvPr/>
        </p:nvSpPr>
        <p:spPr>
          <a:xfrm>
            <a:off x="1042416" y="2066544"/>
            <a:ext cx="361188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If positive &gt; negative  -&gt;  POSITIVE  (green badge)</a:t>
            </a:r>
            <a:endParaRPr lang="en-US" sz="1050" dirty="0"/>
          </a:p>
        </p:txBody>
      </p:sp>
      <p:sp>
        <p:nvSpPr>
          <p:cNvPr id="16" name="Shape 14"/>
          <p:cNvSpPr/>
          <p:nvPr/>
        </p:nvSpPr>
        <p:spPr>
          <a:xfrm>
            <a:off x="4736592" y="1591056"/>
            <a:ext cx="109728" cy="109728"/>
          </a:xfrm>
          <a:prstGeom prst="ellipse">
            <a:avLst/>
          </a:prstGeom>
          <a:solidFill>
            <a:srgbClr val="1A237E"/>
          </a:solidFill>
          <a:ln w="12700">
            <a:solidFill>
              <a:srgbClr val="1A237E"/>
            </a:solidFill>
            <a:prstDash val="solid"/>
          </a:ln>
        </p:spPr>
      </p:sp>
      <p:sp>
        <p:nvSpPr>
          <p:cNvPr id="17" name="Text 15"/>
          <p:cNvSpPr/>
          <p:nvPr/>
        </p:nvSpPr>
        <p:spPr>
          <a:xfrm>
            <a:off x="4919472" y="1554480"/>
            <a:ext cx="374904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Checks negative words: bad, worst, terrible, hate, awful...</a:t>
            </a:r>
            <a:endParaRPr lang="en-US" sz="1050" dirty="0"/>
          </a:p>
        </p:txBody>
      </p:sp>
      <p:sp>
        <p:nvSpPr>
          <p:cNvPr id="18" name="Shape 16"/>
          <p:cNvSpPr/>
          <p:nvPr/>
        </p:nvSpPr>
        <p:spPr>
          <a:xfrm>
            <a:off x="4736592" y="1847088"/>
            <a:ext cx="109728" cy="109728"/>
          </a:xfrm>
          <a:prstGeom prst="ellipse">
            <a:avLst/>
          </a:prstGeom>
          <a:solidFill>
            <a:srgbClr val="1A237E"/>
          </a:solidFill>
          <a:ln w="12700">
            <a:solidFill>
              <a:srgbClr val="1A237E"/>
            </a:solidFill>
            <a:prstDash val="solid"/>
          </a:ln>
        </p:spPr>
      </p:sp>
      <p:sp>
        <p:nvSpPr>
          <p:cNvPr id="19" name="Text 17"/>
          <p:cNvSpPr/>
          <p:nvPr/>
        </p:nvSpPr>
        <p:spPr>
          <a:xfrm>
            <a:off x="4919472" y="1810512"/>
            <a:ext cx="374904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Stored as POSITIVE / NEGATIVE / NEUTRAL in review table</a:t>
            </a:r>
            <a:endParaRPr lang="en-US" sz="1050" dirty="0"/>
          </a:p>
        </p:txBody>
      </p:sp>
      <p:sp>
        <p:nvSpPr>
          <p:cNvPr id="20" name="Shape 18"/>
          <p:cNvSpPr/>
          <p:nvPr/>
        </p:nvSpPr>
        <p:spPr>
          <a:xfrm>
            <a:off x="4736592" y="2103120"/>
            <a:ext cx="109728" cy="109728"/>
          </a:xfrm>
          <a:prstGeom prst="ellipse">
            <a:avLst/>
          </a:prstGeom>
          <a:solidFill>
            <a:srgbClr val="1A237E"/>
          </a:solidFill>
          <a:ln w="12700">
            <a:solidFill>
              <a:srgbClr val="1A237E"/>
            </a:solidFill>
            <a:prstDash val="solid"/>
          </a:ln>
        </p:spPr>
      </p:sp>
      <p:sp>
        <p:nvSpPr>
          <p:cNvPr id="21" name="Text 19"/>
          <p:cNvSpPr/>
          <p:nvPr/>
        </p:nvSpPr>
        <p:spPr>
          <a:xfrm>
            <a:off x="4919472" y="2066544"/>
            <a:ext cx="374904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Colored badge shown on App Details page for each review</a:t>
            </a:r>
            <a:endParaRPr lang="en-US" sz="1050" dirty="0"/>
          </a:p>
        </p:txBody>
      </p:sp>
      <p:sp>
        <p:nvSpPr>
          <p:cNvPr id="22" name="Shape 20"/>
          <p:cNvSpPr/>
          <p:nvPr/>
        </p:nvSpPr>
        <p:spPr>
          <a:xfrm>
            <a:off x="256032" y="2395728"/>
            <a:ext cx="8631936" cy="1152144"/>
          </a:xfrm>
          <a:prstGeom prst="roundRect">
            <a:avLst>
              <a:gd name="adj" fmla="val 6349"/>
            </a:avLst>
          </a:prstGeom>
          <a:solidFill>
            <a:srgbClr val="F0FDF4"/>
          </a:solidFill>
          <a:ln w="6350">
            <a:solidFill>
              <a:srgbClr val="CCCCCC"/>
            </a:solidFill>
            <a:prstDash val="solid"/>
          </a:ln>
          <a:effectLst>
            <a:outerShdw blurRad="63500" dist="25400" dir="2700000" algn="bl" rotWithShape="0">
              <a:srgbClr val="000000">
                <a:alpha val="10000"/>
              </a:srgbClr>
            </a:outerShdw>
          </a:effectLst>
        </p:spPr>
      </p:sp>
      <p:sp>
        <p:nvSpPr>
          <p:cNvPr id="23" name="Shape 21"/>
          <p:cNvSpPr/>
          <p:nvPr/>
        </p:nvSpPr>
        <p:spPr>
          <a:xfrm>
            <a:off x="347472" y="2743200"/>
            <a:ext cx="384048" cy="384048"/>
          </a:xfrm>
          <a:prstGeom prst="ellipse">
            <a:avLst/>
          </a:prstGeom>
          <a:solidFill>
            <a:srgbClr val="00695C"/>
          </a:solidFill>
          <a:ln w="12700">
            <a:solidFill>
              <a:srgbClr val="00695C"/>
            </a:solidFill>
            <a:prstDash val="solid"/>
          </a:ln>
        </p:spPr>
      </p:sp>
      <p:sp>
        <p:nvSpPr>
          <p:cNvPr id="24" name="Text 22"/>
          <p:cNvSpPr/>
          <p:nvPr/>
        </p:nvSpPr>
        <p:spPr>
          <a:xfrm>
            <a:off x="347472" y="274320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25" name="Text 23"/>
          <p:cNvSpPr/>
          <p:nvPr/>
        </p:nvSpPr>
        <p:spPr>
          <a:xfrm>
            <a:off x="859536" y="2450592"/>
            <a:ext cx="7863840" cy="310896"/>
          </a:xfrm>
          <a:prstGeom prst="rect">
            <a:avLst/>
          </a:prstGeom>
          <a:noFill/>
          <a:ln/>
        </p:spPr>
        <p:txBody>
          <a:bodyPr wrap="square" lIns="0" tIns="0" rIns="0" bIns="0"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Download Analytics Dashboard</a:t>
            </a:r>
            <a:endParaRPr lang="en-US" sz="1400" dirty="0"/>
          </a:p>
        </p:txBody>
      </p:sp>
      <p:sp>
        <p:nvSpPr>
          <p:cNvPr id="26" name="Shape 24"/>
          <p:cNvSpPr/>
          <p:nvPr/>
        </p:nvSpPr>
        <p:spPr>
          <a:xfrm>
            <a:off x="859536" y="2852928"/>
            <a:ext cx="109728" cy="109728"/>
          </a:xfrm>
          <a:prstGeom prst="ellipse">
            <a:avLst/>
          </a:prstGeom>
          <a:solidFill>
            <a:srgbClr val="00695C"/>
          </a:solidFill>
          <a:ln w="12700">
            <a:solidFill>
              <a:srgbClr val="00695C"/>
            </a:solidFill>
            <a:prstDash val="solid"/>
          </a:ln>
        </p:spPr>
      </p:sp>
      <p:sp>
        <p:nvSpPr>
          <p:cNvPr id="27" name="Text 25"/>
          <p:cNvSpPr/>
          <p:nvPr/>
        </p:nvSpPr>
        <p:spPr>
          <a:xfrm>
            <a:off x="1042416" y="2816352"/>
            <a:ext cx="361188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Every download saved with user ID, app ID, timestamp</a:t>
            </a:r>
            <a:endParaRPr lang="en-US" sz="1050" dirty="0"/>
          </a:p>
        </p:txBody>
      </p:sp>
      <p:sp>
        <p:nvSpPr>
          <p:cNvPr id="28" name="Shape 26"/>
          <p:cNvSpPr/>
          <p:nvPr/>
        </p:nvSpPr>
        <p:spPr>
          <a:xfrm>
            <a:off x="859536" y="3108960"/>
            <a:ext cx="109728" cy="109728"/>
          </a:xfrm>
          <a:prstGeom prst="ellipse">
            <a:avLst/>
          </a:prstGeom>
          <a:solidFill>
            <a:srgbClr val="00695C"/>
          </a:solidFill>
          <a:ln w="12700">
            <a:solidFill>
              <a:srgbClr val="00695C"/>
            </a:solidFill>
            <a:prstDash val="solid"/>
          </a:ln>
        </p:spPr>
      </p:sp>
      <p:sp>
        <p:nvSpPr>
          <p:cNvPr id="29" name="Text 27"/>
          <p:cNvSpPr/>
          <p:nvPr/>
        </p:nvSpPr>
        <p:spPr>
          <a:xfrm>
            <a:off x="1042416" y="3072384"/>
            <a:ext cx="361188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App total_downloads field auto-incremented on each download</a:t>
            </a:r>
            <a:endParaRPr lang="en-US" sz="1050" dirty="0"/>
          </a:p>
        </p:txBody>
      </p:sp>
      <p:sp>
        <p:nvSpPr>
          <p:cNvPr id="30" name="Shape 28"/>
          <p:cNvSpPr/>
          <p:nvPr/>
        </p:nvSpPr>
        <p:spPr>
          <a:xfrm>
            <a:off x="4736592" y="2852928"/>
            <a:ext cx="109728" cy="109728"/>
          </a:xfrm>
          <a:prstGeom prst="ellipse">
            <a:avLst/>
          </a:prstGeom>
          <a:solidFill>
            <a:srgbClr val="00695C"/>
          </a:solidFill>
          <a:ln w="12700">
            <a:solidFill>
              <a:srgbClr val="00695C"/>
            </a:solidFill>
            <a:prstDash val="solid"/>
          </a:ln>
        </p:spPr>
      </p:sp>
      <p:sp>
        <p:nvSpPr>
          <p:cNvPr id="31" name="Text 29"/>
          <p:cNvSpPr/>
          <p:nvPr/>
        </p:nvSpPr>
        <p:spPr>
          <a:xfrm>
            <a:off x="4919472" y="2816352"/>
            <a:ext cx="374904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GET /api/downloads/analytics returns per-app counts</a:t>
            </a:r>
            <a:endParaRPr lang="en-US" sz="1050" dirty="0"/>
          </a:p>
        </p:txBody>
      </p:sp>
      <p:sp>
        <p:nvSpPr>
          <p:cNvPr id="32" name="Shape 30"/>
          <p:cNvSpPr/>
          <p:nvPr/>
        </p:nvSpPr>
        <p:spPr>
          <a:xfrm>
            <a:off x="4736592" y="3108960"/>
            <a:ext cx="109728" cy="109728"/>
          </a:xfrm>
          <a:prstGeom prst="ellipse">
            <a:avLst/>
          </a:prstGeom>
          <a:solidFill>
            <a:srgbClr val="00695C"/>
          </a:solidFill>
          <a:ln w="12700">
            <a:solidFill>
              <a:srgbClr val="00695C"/>
            </a:solidFill>
            <a:prstDash val="solid"/>
          </a:ln>
        </p:spPr>
      </p:sp>
      <p:sp>
        <p:nvSpPr>
          <p:cNvPr id="33" name="Text 31"/>
          <p:cNvSpPr/>
          <p:nvPr/>
        </p:nvSpPr>
        <p:spPr>
          <a:xfrm>
            <a:off x="4919472" y="3072384"/>
            <a:ext cx="374904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Developers see ranked list of apps by download count</a:t>
            </a:r>
            <a:endParaRPr lang="en-US" sz="1050" dirty="0"/>
          </a:p>
        </p:txBody>
      </p:sp>
      <p:sp>
        <p:nvSpPr>
          <p:cNvPr id="34" name="Shape 32"/>
          <p:cNvSpPr/>
          <p:nvPr/>
        </p:nvSpPr>
        <p:spPr>
          <a:xfrm>
            <a:off x="256032" y="3657600"/>
            <a:ext cx="8631936" cy="1152144"/>
          </a:xfrm>
          <a:prstGeom prst="roundRect">
            <a:avLst>
              <a:gd name="adj" fmla="val 6349"/>
            </a:avLst>
          </a:prstGeom>
          <a:solidFill>
            <a:srgbClr val="FFF7ED"/>
          </a:solidFill>
          <a:ln w="6350">
            <a:solidFill>
              <a:srgbClr val="CCCCCC"/>
            </a:solidFill>
            <a:prstDash val="solid"/>
          </a:ln>
          <a:effectLst>
            <a:outerShdw blurRad="63500" dist="25400" dir="2700000" algn="bl" rotWithShape="0">
              <a:srgbClr val="000000">
                <a:alpha val="10000"/>
              </a:srgbClr>
            </a:outerShdw>
          </a:effectLst>
        </p:spPr>
      </p:sp>
      <p:sp>
        <p:nvSpPr>
          <p:cNvPr id="35" name="Shape 33"/>
          <p:cNvSpPr/>
          <p:nvPr/>
        </p:nvSpPr>
        <p:spPr>
          <a:xfrm>
            <a:off x="347472" y="4005072"/>
            <a:ext cx="384048" cy="384048"/>
          </a:xfrm>
          <a:prstGeom prst="ellipse">
            <a:avLst/>
          </a:prstGeom>
          <a:solidFill>
            <a:srgbClr val="E65100"/>
          </a:solidFill>
          <a:ln w="12700">
            <a:solidFill>
              <a:srgbClr val="E65100"/>
            </a:solidFill>
            <a:prstDash val="solid"/>
          </a:ln>
        </p:spPr>
      </p:sp>
      <p:sp>
        <p:nvSpPr>
          <p:cNvPr id="36" name="Text 34"/>
          <p:cNvSpPr/>
          <p:nvPr/>
        </p:nvSpPr>
        <p:spPr>
          <a:xfrm>
            <a:off x="347472" y="4005072"/>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37" name="Text 35"/>
          <p:cNvSpPr/>
          <p:nvPr/>
        </p:nvSpPr>
        <p:spPr>
          <a:xfrm>
            <a:off x="859536" y="3712464"/>
            <a:ext cx="7863840" cy="310896"/>
          </a:xfrm>
          <a:prstGeom prst="rect">
            <a:avLst/>
          </a:prstGeom>
          <a:noFill/>
          <a:ln/>
        </p:spPr>
        <p:txBody>
          <a:bodyPr wrap="square" lIns="0" tIns="0" rIns="0" bIns="0"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Trending Apps on Home Page</a:t>
            </a:r>
            <a:endParaRPr lang="en-US" sz="1400" dirty="0"/>
          </a:p>
        </p:txBody>
      </p:sp>
      <p:sp>
        <p:nvSpPr>
          <p:cNvPr id="38" name="Shape 36"/>
          <p:cNvSpPr/>
          <p:nvPr/>
        </p:nvSpPr>
        <p:spPr>
          <a:xfrm>
            <a:off x="859536" y="4114800"/>
            <a:ext cx="109728" cy="109728"/>
          </a:xfrm>
          <a:prstGeom prst="ellipse">
            <a:avLst/>
          </a:prstGeom>
          <a:solidFill>
            <a:srgbClr val="E65100"/>
          </a:solidFill>
          <a:ln w="12700">
            <a:solidFill>
              <a:srgbClr val="E65100"/>
            </a:solidFill>
            <a:prstDash val="solid"/>
          </a:ln>
        </p:spPr>
      </p:sp>
      <p:sp>
        <p:nvSpPr>
          <p:cNvPr id="39" name="Text 37"/>
          <p:cNvSpPr/>
          <p:nvPr/>
        </p:nvSpPr>
        <p:spPr>
          <a:xfrm>
            <a:off x="1042416" y="4078224"/>
            <a:ext cx="361188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GET /api/apps/trending endpoint in AppController</a:t>
            </a:r>
            <a:endParaRPr lang="en-US" sz="1050" dirty="0"/>
          </a:p>
        </p:txBody>
      </p:sp>
      <p:sp>
        <p:nvSpPr>
          <p:cNvPr id="40" name="Shape 38"/>
          <p:cNvSpPr/>
          <p:nvPr/>
        </p:nvSpPr>
        <p:spPr>
          <a:xfrm>
            <a:off x="859536" y="4370832"/>
            <a:ext cx="109728" cy="109728"/>
          </a:xfrm>
          <a:prstGeom prst="ellipse">
            <a:avLst/>
          </a:prstGeom>
          <a:solidFill>
            <a:srgbClr val="E65100"/>
          </a:solidFill>
          <a:ln w="12700">
            <a:solidFill>
              <a:srgbClr val="E65100"/>
            </a:solidFill>
            <a:prstDash val="solid"/>
          </a:ln>
        </p:spPr>
      </p:sp>
      <p:sp>
        <p:nvSpPr>
          <p:cNvPr id="41" name="Text 39"/>
          <p:cNvSpPr/>
          <p:nvPr/>
        </p:nvSpPr>
        <p:spPr>
          <a:xfrm>
            <a:off x="1042416" y="4334256"/>
            <a:ext cx="361188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Sorts all apps by totalDownloads DESC, returns top 5</a:t>
            </a:r>
            <a:endParaRPr lang="en-US" sz="1050" dirty="0"/>
          </a:p>
        </p:txBody>
      </p:sp>
      <p:sp>
        <p:nvSpPr>
          <p:cNvPr id="42" name="Shape 40"/>
          <p:cNvSpPr/>
          <p:nvPr/>
        </p:nvSpPr>
        <p:spPr>
          <a:xfrm>
            <a:off x="4736592" y="4114800"/>
            <a:ext cx="109728" cy="109728"/>
          </a:xfrm>
          <a:prstGeom prst="ellipse">
            <a:avLst/>
          </a:prstGeom>
          <a:solidFill>
            <a:srgbClr val="E65100"/>
          </a:solidFill>
          <a:ln w="12700">
            <a:solidFill>
              <a:srgbClr val="E65100"/>
            </a:solidFill>
            <a:prstDash val="solid"/>
          </a:ln>
        </p:spPr>
      </p:sp>
      <p:sp>
        <p:nvSpPr>
          <p:cNvPr id="43" name="Text 41"/>
          <p:cNvSpPr/>
          <p:nvPr/>
        </p:nvSpPr>
        <p:spPr>
          <a:xfrm>
            <a:off x="4919472" y="4078224"/>
            <a:ext cx="374904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Shown as horizontal scrollable cards on Home page</a:t>
            </a:r>
            <a:endParaRPr lang="en-US" sz="1050" dirty="0"/>
          </a:p>
        </p:txBody>
      </p:sp>
      <p:sp>
        <p:nvSpPr>
          <p:cNvPr id="44" name="Shape 42"/>
          <p:cNvSpPr/>
          <p:nvPr/>
        </p:nvSpPr>
        <p:spPr>
          <a:xfrm>
            <a:off x="4736592" y="4370832"/>
            <a:ext cx="109728" cy="109728"/>
          </a:xfrm>
          <a:prstGeom prst="ellipse">
            <a:avLst/>
          </a:prstGeom>
          <a:solidFill>
            <a:srgbClr val="E65100"/>
          </a:solidFill>
          <a:ln w="12700">
            <a:solidFill>
              <a:srgbClr val="E65100"/>
            </a:solidFill>
            <a:prstDash val="solid"/>
          </a:ln>
        </p:spPr>
      </p:sp>
      <p:sp>
        <p:nvSpPr>
          <p:cNvPr id="45" name="Text 43"/>
          <p:cNvSpPr/>
          <p:nvPr/>
        </p:nvSpPr>
        <p:spPr>
          <a:xfrm>
            <a:off x="4919472" y="4334256"/>
            <a:ext cx="3749040" cy="237744"/>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Each card shows rank number and total download count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A237E"/>
          </a:solidFill>
          <a:ln w="12700">
            <a:solidFill>
              <a:srgbClr val="1A237E"/>
            </a:solidFill>
            <a:prstDash val="solid"/>
          </a:ln>
        </p:spPr>
      </p:sp>
      <p:sp>
        <p:nvSpPr>
          <p:cNvPr id="3" name="Text 1"/>
          <p:cNvSpPr/>
          <p:nvPr/>
        </p:nvSpPr>
        <p:spPr>
          <a:xfrm>
            <a:off x="365760" y="73152"/>
            <a:ext cx="8412480" cy="56692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7.  Security — JWT &amp; Role-Based Access Control</a:t>
            </a:r>
            <a:endParaRPr lang="en-US" sz="2800" dirty="0"/>
          </a:p>
        </p:txBody>
      </p:sp>
      <p:sp>
        <p:nvSpPr>
          <p:cNvPr id="4" name="Text 2"/>
          <p:cNvSpPr/>
          <p:nvPr/>
        </p:nvSpPr>
        <p:spPr>
          <a:xfrm>
            <a:off x="365760" y="658368"/>
            <a:ext cx="8412480" cy="329184"/>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How authentication and authorization work</a:t>
            </a:r>
            <a:endParaRPr lang="en-US" sz="1200" dirty="0"/>
          </a:p>
        </p:txBody>
      </p:sp>
      <p:sp>
        <p:nvSpPr>
          <p:cNvPr id="5" name="Text 3"/>
          <p:cNvSpPr/>
          <p:nvPr/>
        </p:nvSpPr>
        <p:spPr>
          <a:xfrm>
            <a:off x="0" y="4882896"/>
            <a:ext cx="9144000" cy="256032"/>
          </a:xfrm>
          <a:prstGeom prst="rect">
            <a:avLst/>
          </a:prstGeom>
          <a:noFill/>
          <a:ln/>
        </p:spPr>
        <p:txBody>
          <a:bodyPr wrap="square" lIns="0" tIns="0" rIns="0" bIns="0" rtlCol="0" anchor="ctr"/>
          <a:lstStyle/>
          <a:p>
            <a:pPr marL="0" indent="0" algn="ctr">
              <a:buNone/>
            </a:pPr>
            <a:r>
              <a:rPr lang="en-US" sz="900" dirty="0">
                <a:solidFill>
                  <a:srgbClr val="9E9E9E"/>
                </a:solidFill>
                <a:latin typeface="Calibri" pitchFamily="34" charset="0"/>
                <a:ea typeface="Calibri" pitchFamily="34" charset="-122"/>
                <a:cs typeface="Calibri" pitchFamily="34" charset="-120"/>
              </a:rPr>
              <a:t>AppVerse AI  |  Harini VS  |  Great Learning Capstone</a:t>
            </a:r>
            <a:endParaRPr lang="en-US" sz="900" dirty="0"/>
          </a:p>
        </p:txBody>
      </p:sp>
      <p:sp>
        <p:nvSpPr>
          <p:cNvPr id="6" name="Shape 4"/>
          <p:cNvSpPr/>
          <p:nvPr/>
        </p:nvSpPr>
        <p:spPr>
          <a:xfrm>
            <a:off x="256032" y="1115568"/>
            <a:ext cx="4572000" cy="3657600"/>
          </a:xfrm>
          <a:prstGeom prst="roundRect">
            <a:avLst>
              <a:gd name="adj" fmla="val 2000"/>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sp>
      <p:sp>
        <p:nvSpPr>
          <p:cNvPr id="7" name="Text 5"/>
          <p:cNvSpPr/>
          <p:nvPr/>
        </p:nvSpPr>
        <p:spPr>
          <a:xfrm>
            <a:off x="384048" y="1188720"/>
            <a:ext cx="4297680" cy="329184"/>
          </a:xfrm>
          <a:prstGeom prst="rect">
            <a:avLst/>
          </a:prstGeom>
          <a:noFill/>
          <a:ln/>
        </p:spPr>
        <p:txBody>
          <a:bodyPr wrap="square" lIns="0" tIns="0" rIns="0" bIns="0"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JWT Authentication Flow</a:t>
            </a:r>
            <a:endParaRPr lang="en-US" sz="1400" dirty="0"/>
          </a:p>
        </p:txBody>
      </p:sp>
      <p:sp>
        <p:nvSpPr>
          <p:cNvPr id="8" name="Shape 6"/>
          <p:cNvSpPr/>
          <p:nvPr/>
        </p:nvSpPr>
        <p:spPr>
          <a:xfrm>
            <a:off x="365760" y="1664208"/>
            <a:ext cx="274320" cy="274320"/>
          </a:xfrm>
          <a:prstGeom prst="ellipse">
            <a:avLst/>
          </a:prstGeom>
          <a:solidFill>
            <a:srgbClr val="1A237E"/>
          </a:solidFill>
          <a:ln w="12700">
            <a:solidFill>
              <a:srgbClr val="1A237E"/>
            </a:solidFill>
            <a:prstDash val="solid"/>
          </a:ln>
        </p:spPr>
      </p:sp>
      <p:sp>
        <p:nvSpPr>
          <p:cNvPr id="9" name="Text 7"/>
          <p:cNvSpPr/>
          <p:nvPr/>
        </p:nvSpPr>
        <p:spPr>
          <a:xfrm>
            <a:off x="365760" y="166420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749808" y="1627632"/>
            <a:ext cx="3913632" cy="36576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User sends email + password  -&gt;  POST /api/users/login</a:t>
            </a:r>
            <a:endParaRPr lang="en-US" sz="1100" dirty="0"/>
          </a:p>
        </p:txBody>
      </p:sp>
      <p:sp>
        <p:nvSpPr>
          <p:cNvPr id="11" name="Shape 9"/>
          <p:cNvSpPr/>
          <p:nvPr/>
        </p:nvSpPr>
        <p:spPr>
          <a:xfrm>
            <a:off x="475488" y="1938528"/>
            <a:ext cx="54864" cy="128016"/>
          </a:xfrm>
          <a:prstGeom prst="rect">
            <a:avLst/>
          </a:prstGeom>
          <a:solidFill>
            <a:srgbClr val="90CAF9"/>
          </a:solidFill>
          <a:ln w="12700">
            <a:solidFill>
              <a:srgbClr val="90CAF9"/>
            </a:solidFill>
            <a:prstDash val="solid"/>
          </a:ln>
        </p:spPr>
      </p:sp>
      <p:sp>
        <p:nvSpPr>
          <p:cNvPr id="12" name="Shape 10"/>
          <p:cNvSpPr/>
          <p:nvPr/>
        </p:nvSpPr>
        <p:spPr>
          <a:xfrm>
            <a:off x="365760" y="2103120"/>
            <a:ext cx="274320" cy="274320"/>
          </a:xfrm>
          <a:prstGeom prst="ellipse">
            <a:avLst/>
          </a:prstGeom>
          <a:solidFill>
            <a:srgbClr val="1A237E"/>
          </a:solidFill>
          <a:ln w="12700">
            <a:solidFill>
              <a:srgbClr val="1A237E"/>
            </a:solidFill>
            <a:prstDash val="solid"/>
          </a:ln>
        </p:spPr>
      </p:sp>
      <p:sp>
        <p:nvSpPr>
          <p:cNvPr id="13" name="Text 11"/>
          <p:cNvSpPr/>
          <p:nvPr/>
        </p:nvSpPr>
        <p:spPr>
          <a:xfrm>
            <a:off x="365760" y="210312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749808" y="2066544"/>
            <a:ext cx="3913632" cy="36576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Backend finds user by email from MySQL</a:t>
            </a:r>
            <a:endParaRPr lang="en-US" sz="1100" dirty="0"/>
          </a:p>
        </p:txBody>
      </p:sp>
      <p:sp>
        <p:nvSpPr>
          <p:cNvPr id="15" name="Shape 13"/>
          <p:cNvSpPr/>
          <p:nvPr/>
        </p:nvSpPr>
        <p:spPr>
          <a:xfrm>
            <a:off x="475488" y="2377440"/>
            <a:ext cx="54864" cy="128016"/>
          </a:xfrm>
          <a:prstGeom prst="rect">
            <a:avLst/>
          </a:prstGeom>
          <a:solidFill>
            <a:srgbClr val="90CAF9"/>
          </a:solidFill>
          <a:ln w="12700">
            <a:solidFill>
              <a:srgbClr val="90CAF9"/>
            </a:solidFill>
            <a:prstDash val="solid"/>
          </a:ln>
        </p:spPr>
      </p:sp>
      <p:sp>
        <p:nvSpPr>
          <p:cNvPr id="16" name="Shape 14"/>
          <p:cNvSpPr/>
          <p:nvPr/>
        </p:nvSpPr>
        <p:spPr>
          <a:xfrm>
            <a:off x="365760" y="2542032"/>
            <a:ext cx="274320" cy="274320"/>
          </a:xfrm>
          <a:prstGeom prst="ellipse">
            <a:avLst/>
          </a:prstGeom>
          <a:solidFill>
            <a:srgbClr val="1A237E"/>
          </a:solidFill>
          <a:ln w="12700">
            <a:solidFill>
              <a:srgbClr val="1A237E"/>
            </a:solidFill>
            <a:prstDash val="solid"/>
          </a:ln>
        </p:spPr>
      </p:sp>
      <p:sp>
        <p:nvSpPr>
          <p:cNvPr id="17" name="Text 15"/>
          <p:cNvSpPr/>
          <p:nvPr/>
        </p:nvSpPr>
        <p:spPr>
          <a:xfrm>
            <a:off x="365760" y="2542032"/>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749808" y="2505456"/>
            <a:ext cx="3913632" cy="36576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BCrypt.matches() compares password with stored hash</a:t>
            </a:r>
            <a:endParaRPr lang="en-US" sz="1100" dirty="0"/>
          </a:p>
        </p:txBody>
      </p:sp>
      <p:sp>
        <p:nvSpPr>
          <p:cNvPr id="19" name="Shape 17"/>
          <p:cNvSpPr/>
          <p:nvPr/>
        </p:nvSpPr>
        <p:spPr>
          <a:xfrm>
            <a:off x="475488" y="2816352"/>
            <a:ext cx="54864" cy="128016"/>
          </a:xfrm>
          <a:prstGeom prst="rect">
            <a:avLst/>
          </a:prstGeom>
          <a:solidFill>
            <a:srgbClr val="90CAF9"/>
          </a:solidFill>
          <a:ln w="12700">
            <a:solidFill>
              <a:srgbClr val="90CAF9"/>
            </a:solidFill>
            <a:prstDash val="solid"/>
          </a:ln>
        </p:spPr>
      </p:sp>
      <p:sp>
        <p:nvSpPr>
          <p:cNvPr id="20" name="Shape 18"/>
          <p:cNvSpPr/>
          <p:nvPr/>
        </p:nvSpPr>
        <p:spPr>
          <a:xfrm>
            <a:off x="365760" y="2980944"/>
            <a:ext cx="274320" cy="274320"/>
          </a:xfrm>
          <a:prstGeom prst="ellipse">
            <a:avLst/>
          </a:prstGeom>
          <a:solidFill>
            <a:srgbClr val="1A237E"/>
          </a:solidFill>
          <a:ln w="12700">
            <a:solidFill>
              <a:srgbClr val="1A237E"/>
            </a:solidFill>
            <a:prstDash val="solid"/>
          </a:ln>
        </p:spPr>
      </p:sp>
      <p:sp>
        <p:nvSpPr>
          <p:cNvPr id="21" name="Text 19"/>
          <p:cNvSpPr/>
          <p:nvPr/>
        </p:nvSpPr>
        <p:spPr>
          <a:xfrm>
            <a:off x="365760" y="298094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749808" y="2944368"/>
            <a:ext cx="3913632" cy="36576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JwtUtil generates token  (email + 10hr expiry + signature)</a:t>
            </a:r>
            <a:endParaRPr lang="en-US" sz="1100" dirty="0"/>
          </a:p>
        </p:txBody>
      </p:sp>
      <p:sp>
        <p:nvSpPr>
          <p:cNvPr id="23" name="Shape 21"/>
          <p:cNvSpPr/>
          <p:nvPr/>
        </p:nvSpPr>
        <p:spPr>
          <a:xfrm>
            <a:off x="475488" y="3255264"/>
            <a:ext cx="54864" cy="128016"/>
          </a:xfrm>
          <a:prstGeom prst="rect">
            <a:avLst/>
          </a:prstGeom>
          <a:solidFill>
            <a:srgbClr val="90CAF9"/>
          </a:solidFill>
          <a:ln w="12700">
            <a:solidFill>
              <a:srgbClr val="90CAF9"/>
            </a:solidFill>
            <a:prstDash val="solid"/>
          </a:ln>
        </p:spPr>
      </p:sp>
      <p:sp>
        <p:nvSpPr>
          <p:cNvPr id="24" name="Shape 22"/>
          <p:cNvSpPr/>
          <p:nvPr/>
        </p:nvSpPr>
        <p:spPr>
          <a:xfrm>
            <a:off x="365760" y="3419856"/>
            <a:ext cx="274320" cy="274320"/>
          </a:xfrm>
          <a:prstGeom prst="ellipse">
            <a:avLst/>
          </a:prstGeom>
          <a:solidFill>
            <a:srgbClr val="1A237E"/>
          </a:solidFill>
          <a:ln w="12700">
            <a:solidFill>
              <a:srgbClr val="1A237E"/>
            </a:solidFill>
            <a:prstDash val="solid"/>
          </a:ln>
        </p:spPr>
      </p:sp>
      <p:sp>
        <p:nvSpPr>
          <p:cNvPr id="25" name="Text 23"/>
          <p:cNvSpPr/>
          <p:nvPr/>
        </p:nvSpPr>
        <p:spPr>
          <a:xfrm>
            <a:off x="365760" y="3419856"/>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p:nvPr/>
        </p:nvSpPr>
        <p:spPr>
          <a:xfrm>
            <a:off x="749808" y="3383280"/>
            <a:ext cx="3913632" cy="36576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React stores token in localStorage via AuthContext</a:t>
            </a:r>
            <a:endParaRPr lang="en-US" sz="1100" dirty="0"/>
          </a:p>
        </p:txBody>
      </p:sp>
      <p:sp>
        <p:nvSpPr>
          <p:cNvPr id="27" name="Shape 25"/>
          <p:cNvSpPr/>
          <p:nvPr/>
        </p:nvSpPr>
        <p:spPr>
          <a:xfrm>
            <a:off x="475488" y="3694176"/>
            <a:ext cx="54864" cy="128016"/>
          </a:xfrm>
          <a:prstGeom prst="rect">
            <a:avLst/>
          </a:prstGeom>
          <a:solidFill>
            <a:srgbClr val="90CAF9"/>
          </a:solidFill>
          <a:ln w="12700">
            <a:solidFill>
              <a:srgbClr val="90CAF9"/>
            </a:solidFill>
            <a:prstDash val="solid"/>
          </a:ln>
        </p:spPr>
      </p:sp>
      <p:sp>
        <p:nvSpPr>
          <p:cNvPr id="28" name="Shape 26"/>
          <p:cNvSpPr/>
          <p:nvPr/>
        </p:nvSpPr>
        <p:spPr>
          <a:xfrm>
            <a:off x="365760" y="3858768"/>
            <a:ext cx="274320" cy="274320"/>
          </a:xfrm>
          <a:prstGeom prst="ellipse">
            <a:avLst/>
          </a:prstGeom>
          <a:solidFill>
            <a:srgbClr val="1A237E"/>
          </a:solidFill>
          <a:ln w="12700">
            <a:solidFill>
              <a:srgbClr val="1A237E"/>
            </a:solidFill>
            <a:prstDash val="solid"/>
          </a:ln>
        </p:spPr>
      </p:sp>
      <p:sp>
        <p:nvSpPr>
          <p:cNvPr id="29" name="Text 27"/>
          <p:cNvSpPr/>
          <p:nvPr/>
        </p:nvSpPr>
        <p:spPr>
          <a:xfrm>
            <a:off x="365760" y="385876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749808" y="3822192"/>
            <a:ext cx="3913632" cy="36576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Every request:  Authorization: Bearer &lt;token&gt;</a:t>
            </a:r>
            <a:endParaRPr lang="en-US" sz="1100" dirty="0"/>
          </a:p>
        </p:txBody>
      </p:sp>
      <p:sp>
        <p:nvSpPr>
          <p:cNvPr id="31" name="Shape 29"/>
          <p:cNvSpPr/>
          <p:nvPr/>
        </p:nvSpPr>
        <p:spPr>
          <a:xfrm>
            <a:off x="475488" y="4133088"/>
            <a:ext cx="54864" cy="128016"/>
          </a:xfrm>
          <a:prstGeom prst="rect">
            <a:avLst/>
          </a:prstGeom>
          <a:solidFill>
            <a:srgbClr val="90CAF9"/>
          </a:solidFill>
          <a:ln w="12700">
            <a:solidFill>
              <a:srgbClr val="90CAF9"/>
            </a:solidFill>
            <a:prstDash val="solid"/>
          </a:ln>
        </p:spPr>
      </p:sp>
      <p:sp>
        <p:nvSpPr>
          <p:cNvPr id="32" name="Shape 30"/>
          <p:cNvSpPr/>
          <p:nvPr/>
        </p:nvSpPr>
        <p:spPr>
          <a:xfrm>
            <a:off x="365760" y="4297680"/>
            <a:ext cx="274320" cy="274320"/>
          </a:xfrm>
          <a:prstGeom prst="ellipse">
            <a:avLst/>
          </a:prstGeom>
          <a:solidFill>
            <a:srgbClr val="1A237E"/>
          </a:solidFill>
          <a:ln w="12700">
            <a:solidFill>
              <a:srgbClr val="1A237E"/>
            </a:solidFill>
            <a:prstDash val="solid"/>
          </a:ln>
        </p:spPr>
      </p:sp>
      <p:sp>
        <p:nvSpPr>
          <p:cNvPr id="33" name="Text 31"/>
          <p:cNvSpPr/>
          <p:nvPr/>
        </p:nvSpPr>
        <p:spPr>
          <a:xfrm>
            <a:off x="365760" y="429768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4" name="Text 32"/>
          <p:cNvSpPr/>
          <p:nvPr/>
        </p:nvSpPr>
        <p:spPr>
          <a:xfrm>
            <a:off x="749808" y="4261104"/>
            <a:ext cx="3913632" cy="36576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JwtAuthFilter validates  -&gt;  allows or returns 401</a:t>
            </a:r>
            <a:endParaRPr lang="en-US" sz="1100" dirty="0"/>
          </a:p>
        </p:txBody>
      </p:sp>
      <p:sp>
        <p:nvSpPr>
          <p:cNvPr id="35" name="Shape 33"/>
          <p:cNvSpPr/>
          <p:nvPr/>
        </p:nvSpPr>
        <p:spPr>
          <a:xfrm>
            <a:off x="5047488" y="1115568"/>
            <a:ext cx="3840480" cy="3657600"/>
          </a:xfrm>
          <a:prstGeom prst="roundRect">
            <a:avLst>
              <a:gd name="adj" fmla="val 2000"/>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sp>
      <p:sp>
        <p:nvSpPr>
          <p:cNvPr id="36" name="Text 34"/>
          <p:cNvSpPr/>
          <p:nvPr/>
        </p:nvSpPr>
        <p:spPr>
          <a:xfrm>
            <a:off x="5175504" y="1188720"/>
            <a:ext cx="3566160" cy="329184"/>
          </a:xfrm>
          <a:prstGeom prst="rect">
            <a:avLst/>
          </a:prstGeom>
          <a:noFill/>
          <a:ln/>
        </p:spPr>
        <p:txBody>
          <a:bodyPr wrap="square" lIns="0" tIns="0" rIns="0" bIns="0" rtlCol="0" anchor="ctr"/>
          <a:lstStyle/>
          <a:p>
            <a:pPr marL="0" indent="0">
              <a:buNone/>
            </a:pPr>
            <a:r>
              <a:rPr lang="en-US" sz="1400" b="1" dirty="0">
                <a:solidFill>
                  <a:srgbClr val="1A237E"/>
                </a:solidFill>
                <a:latin typeface="Calibri" pitchFamily="34" charset="0"/>
                <a:ea typeface="Calibri" pitchFamily="34" charset="-122"/>
                <a:cs typeface="Calibri" pitchFamily="34" charset="-120"/>
              </a:rPr>
              <a:t>Role-Based Access Control</a:t>
            </a:r>
            <a:endParaRPr lang="en-US" sz="1400" dirty="0"/>
          </a:p>
        </p:txBody>
      </p:sp>
      <p:sp>
        <p:nvSpPr>
          <p:cNvPr id="37" name="Shape 35"/>
          <p:cNvSpPr/>
          <p:nvPr/>
        </p:nvSpPr>
        <p:spPr>
          <a:xfrm>
            <a:off x="5138928" y="1609344"/>
            <a:ext cx="3621024" cy="950976"/>
          </a:xfrm>
          <a:prstGeom prst="roundRect">
            <a:avLst>
              <a:gd name="adj" fmla="val 5769"/>
            </a:avLst>
          </a:prstGeom>
          <a:solidFill>
            <a:srgbClr val="DBEAFE"/>
          </a:solidFill>
          <a:ln w="6350">
            <a:solidFill>
              <a:srgbClr val="DDDDDD"/>
            </a:solidFill>
            <a:prstDash val="solid"/>
          </a:ln>
        </p:spPr>
      </p:sp>
      <p:sp>
        <p:nvSpPr>
          <p:cNvPr id="38" name="Text 36"/>
          <p:cNvSpPr/>
          <p:nvPr/>
        </p:nvSpPr>
        <p:spPr>
          <a:xfrm>
            <a:off x="5248656" y="1664208"/>
            <a:ext cx="3383280" cy="274320"/>
          </a:xfrm>
          <a:prstGeom prst="rect">
            <a:avLst/>
          </a:prstGeom>
          <a:noFill/>
          <a:ln/>
        </p:spPr>
        <p:txBody>
          <a:bodyPr wrap="square" lIns="0" tIns="0" rIns="0" bIns="0"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USER</a:t>
            </a:r>
            <a:endParaRPr lang="en-US" sz="1300" dirty="0"/>
          </a:p>
        </p:txBody>
      </p:sp>
      <p:sp>
        <p:nvSpPr>
          <p:cNvPr id="39" name="Shape 37"/>
          <p:cNvSpPr/>
          <p:nvPr/>
        </p:nvSpPr>
        <p:spPr>
          <a:xfrm>
            <a:off x="5248656" y="2011680"/>
            <a:ext cx="91440" cy="91440"/>
          </a:xfrm>
          <a:prstGeom prst="ellipse">
            <a:avLst/>
          </a:prstGeom>
          <a:solidFill>
            <a:srgbClr val="1565C0"/>
          </a:solidFill>
          <a:ln w="12700">
            <a:solidFill>
              <a:srgbClr val="1565C0"/>
            </a:solidFill>
            <a:prstDash val="solid"/>
          </a:ln>
        </p:spPr>
      </p:sp>
      <p:sp>
        <p:nvSpPr>
          <p:cNvPr id="40" name="Text 38"/>
          <p:cNvSpPr/>
          <p:nvPr/>
        </p:nvSpPr>
        <p:spPr>
          <a:xfrm>
            <a:off x="5413248" y="1975104"/>
            <a:ext cx="1627632"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Browse &amp; search apps</a:t>
            </a:r>
            <a:endParaRPr lang="en-US" sz="1000" dirty="0"/>
          </a:p>
        </p:txBody>
      </p:sp>
      <p:sp>
        <p:nvSpPr>
          <p:cNvPr id="41" name="Shape 39"/>
          <p:cNvSpPr/>
          <p:nvPr/>
        </p:nvSpPr>
        <p:spPr>
          <a:xfrm>
            <a:off x="5248656" y="2258568"/>
            <a:ext cx="91440" cy="91440"/>
          </a:xfrm>
          <a:prstGeom prst="ellipse">
            <a:avLst/>
          </a:prstGeom>
          <a:solidFill>
            <a:srgbClr val="1565C0"/>
          </a:solidFill>
          <a:ln w="12700">
            <a:solidFill>
              <a:srgbClr val="1565C0"/>
            </a:solidFill>
            <a:prstDash val="solid"/>
          </a:ln>
        </p:spPr>
      </p:sp>
      <p:sp>
        <p:nvSpPr>
          <p:cNvPr id="42" name="Text 40"/>
          <p:cNvSpPr/>
          <p:nvPr/>
        </p:nvSpPr>
        <p:spPr>
          <a:xfrm>
            <a:off x="5413248" y="2221992"/>
            <a:ext cx="1627632"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Download apps</a:t>
            </a:r>
            <a:endParaRPr lang="en-US" sz="1000" dirty="0"/>
          </a:p>
        </p:txBody>
      </p:sp>
      <p:sp>
        <p:nvSpPr>
          <p:cNvPr id="43" name="Shape 41"/>
          <p:cNvSpPr/>
          <p:nvPr/>
        </p:nvSpPr>
        <p:spPr>
          <a:xfrm>
            <a:off x="7114032" y="2011680"/>
            <a:ext cx="91440" cy="91440"/>
          </a:xfrm>
          <a:prstGeom prst="ellipse">
            <a:avLst/>
          </a:prstGeom>
          <a:solidFill>
            <a:srgbClr val="1565C0"/>
          </a:solidFill>
          <a:ln w="12700">
            <a:solidFill>
              <a:srgbClr val="1565C0"/>
            </a:solidFill>
            <a:prstDash val="solid"/>
          </a:ln>
        </p:spPr>
      </p:sp>
      <p:sp>
        <p:nvSpPr>
          <p:cNvPr id="44" name="Text 42"/>
          <p:cNvSpPr/>
          <p:nvPr/>
        </p:nvSpPr>
        <p:spPr>
          <a:xfrm>
            <a:off x="7278624" y="1975104"/>
            <a:ext cx="1426464"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Write reviews</a:t>
            </a:r>
            <a:endParaRPr lang="en-US" sz="1000" dirty="0"/>
          </a:p>
        </p:txBody>
      </p:sp>
      <p:sp>
        <p:nvSpPr>
          <p:cNvPr id="45" name="Shape 43"/>
          <p:cNvSpPr/>
          <p:nvPr/>
        </p:nvSpPr>
        <p:spPr>
          <a:xfrm>
            <a:off x="7114032" y="2258568"/>
            <a:ext cx="91440" cy="91440"/>
          </a:xfrm>
          <a:prstGeom prst="ellipse">
            <a:avLst/>
          </a:prstGeom>
          <a:solidFill>
            <a:srgbClr val="1565C0"/>
          </a:solidFill>
          <a:ln w="12700">
            <a:solidFill>
              <a:srgbClr val="1565C0"/>
            </a:solidFill>
            <a:prstDash val="solid"/>
          </a:ln>
        </p:spPr>
      </p:sp>
      <p:sp>
        <p:nvSpPr>
          <p:cNvPr id="46" name="Text 44"/>
          <p:cNvSpPr/>
          <p:nvPr/>
        </p:nvSpPr>
        <p:spPr>
          <a:xfrm>
            <a:off x="7278624" y="2221992"/>
            <a:ext cx="1426464"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View my downloads</a:t>
            </a:r>
            <a:endParaRPr lang="en-US" sz="1000" dirty="0"/>
          </a:p>
        </p:txBody>
      </p:sp>
      <p:sp>
        <p:nvSpPr>
          <p:cNvPr id="47" name="Shape 45"/>
          <p:cNvSpPr/>
          <p:nvPr/>
        </p:nvSpPr>
        <p:spPr>
          <a:xfrm>
            <a:off x="5138928" y="2633472"/>
            <a:ext cx="3621024" cy="950976"/>
          </a:xfrm>
          <a:prstGeom prst="roundRect">
            <a:avLst>
              <a:gd name="adj" fmla="val 5769"/>
            </a:avLst>
          </a:prstGeom>
          <a:solidFill>
            <a:srgbClr val="DCFCE7"/>
          </a:solidFill>
          <a:ln w="6350">
            <a:solidFill>
              <a:srgbClr val="DDDDDD"/>
            </a:solidFill>
            <a:prstDash val="solid"/>
          </a:ln>
        </p:spPr>
      </p:sp>
      <p:sp>
        <p:nvSpPr>
          <p:cNvPr id="48" name="Text 46"/>
          <p:cNvSpPr/>
          <p:nvPr/>
        </p:nvSpPr>
        <p:spPr>
          <a:xfrm>
            <a:off x="5248656" y="2688336"/>
            <a:ext cx="3383280" cy="274320"/>
          </a:xfrm>
          <a:prstGeom prst="rect">
            <a:avLst/>
          </a:prstGeom>
          <a:noFill/>
          <a:ln/>
        </p:spPr>
        <p:txBody>
          <a:bodyPr wrap="square" lIns="0" tIns="0" rIns="0" bIns="0" rtlCol="0" anchor="ctr"/>
          <a:lstStyle/>
          <a:p>
            <a:pPr marL="0" indent="0">
              <a:buNone/>
            </a:pPr>
            <a:r>
              <a:rPr lang="en-US" sz="1300" b="1" dirty="0">
                <a:solidFill>
                  <a:srgbClr val="00695C"/>
                </a:solidFill>
                <a:latin typeface="Calibri" pitchFamily="34" charset="0"/>
                <a:ea typeface="Calibri" pitchFamily="34" charset="-122"/>
                <a:cs typeface="Calibri" pitchFamily="34" charset="-120"/>
              </a:rPr>
              <a:t>DEVELOPER</a:t>
            </a:r>
            <a:endParaRPr lang="en-US" sz="1300" dirty="0"/>
          </a:p>
        </p:txBody>
      </p:sp>
      <p:sp>
        <p:nvSpPr>
          <p:cNvPr id="49" name="Shape 47"/>
          <p:cNvSpPr/>
          <p:nvPr/>
        </p:nvSpPr>
        <p:spPr>
          <a:xfrm>
            <a:off x="5248656" y="3035808"/>
            <a:ext cx="91440" cy="91440"/>
          </a:xfrm>
          <a:prstGeom prst="ellipse">
            <a:avLst/>
          </a:prstGeom>
          <a:solidFill>
            <a:srgbClr val="00695C"/>
          </a:solidFill>
          <a:ln w="12700">
            <a:solidFill>
              <a:srgbClr val="00695C"/>
            </a:solidFill>
            <a:prstDash val="solid"/>
          </a:ln>
        </p:spPr>
      </p:sp>
      <p:sp>
        <p:nvSpPr>
          <p:cNvPr id="50" name="Text 48"/>
          <p:cNvSpPr/>
          <p:nvPr/>
        </p:nvSpPr>
        <p:spPr>
          <a:xfrm>
            <a:off x="5413248" y="2999232"/>
            <a:ext cx="1627632"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All USER actions</a:t>
            </a:r>
            <a:endParaRPr lang="en-US" sz="1000" dirty="0"/>
          </a:p>
        </p:txBody>
      </p:sp>
      <p:sp>
        <p:nvSpPr>
          <p:cNvPr id="51" name="Shape 49"/>
          <p:cNvSpPr/>
          <p:nvPr/>
        </p:nvSpPr>
        <p:spPr>
          <a:xfrm>
            <a:off x="5248656" y="3282696"/>
            <a:ext cx="91440" cy="91440"/>
          </a:xfrm>
          <a:prstGeom prst="ellipse">
            <a:avLst/>
          </a:prstGeom>
          <a:solidFill>
            <a:srgbClr val="00695C"/>
          </a:solidFill>
          <a:ln w="12700">
            <a:solidFill>
              <a:srgbClr val="00695C"/>
            </a:solidFill>
            <a:prstDash val="solid"/>
          </a:ln>
        </p:spPr>
      </p:sp>
      <p:sp>
        <p:nvSpPr>
          <p:cNvPr id="52" name="Text 50"/>
          <p:cNvSpPr/>
          <p:nvPr/>
        </p:nvSpPr>
        <p:spPr>
          <a:xfrm>
            <a:off x="5413248" y="3246120"/>
            <a:ext cx="1627632"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Create / edit / delete apps</a:t>
            </a:r>
            <a:endParaRPr lang="en-US" sz="1000" dirty="0"/>
          </a:p>
        </p:txBody>
      </p:sp>
      <p:sp>
        <p:nvSpPr>
          <p:cNvPr id="53" name="Shape 51"/>
          <p:cNvSpPr/>
          <p:nvPr/>
        </p:nvSpPr>
        <p:spPr>
          <a:xfrm>
            <a:off x="7114032" y="3035808"/>
            <a:ext cx="91440" cy="91440"/>
          </a:xfrm>
          <a:prstGeom prst="ellipse">
            <a:avLst/>
          </a:prstGeom>
          <a:solidFill>
            <a:srgbClr val="00695C"/>
          </a:solidFill>
          <a:ln w="12700">
            <a:solidFill>
              <a:srgbClr val="00695C"/>
            </a:solidFill>
            <a:prstDash val="solid"/>
          </a:ln>
        </p:spPr>
      </p:sp>
      <p:sp>
        <p:nvSpPr>
          <p:cNvPr id="54" name="Text 52"/>
          <p:cNvSpPr/>
          <p:nvPr/>
        </p:nvSpPr>
        <p:spPr>
          <a:xfrm>
            <a:off x="7278624" y="2999232"/>
            <a:ext cx="1426464"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Add app versions</a:t>
            </a:r>
            <a:endParaRPr lang="en-US" sz="1000" dirty="0"/>
          </a:p>
        </p:txBody>
      </p:sp>
      <p:sp>
        <p:nvSpPr>
          <p:cNvPr id="55" name="Shape 53"/>
          <p:cNvSpPr/>
          <p:nvPr/>
        </p:nvSpPr>
        <p:spPr>
          <a:xfrm>
            <a:off x="7114032" y="3282696"/>
            <a:ext cx="91440" cy="91440"/>
          </a:xfrm>
          <a:prstGeom prst="ellipse">
            <a:avLst/>
          </a:prstGeom>
          <a:solidFill>
            <a:srgbClr val="00695C"/>
          </a:solidFill>
          <a:ln w="12700">
            <a:solidFill>
              <a:srgbClr val="00695C"/>
            </a:solidFill>
            <a:prstDash val="solid"/>
          </a:ln>
        </p:spPr>
      </p:sp>
      <p:sp>
        <p:nvSpPr>
          <p:cNvPr id="56" name="Text 54"/>
          <p:cNvSpPr/>
          <p:nvPr/>
        </p:nvSpPr>
        <p:spPr>
          <a:xfrm>
            <a:off x="7278624" y="3246120"/>
            <a:ext cx="1426464"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View analytics dashboard</a:t>
            </a:r>
            <a:endParaRPr lang="en-US" sz="1000" dirty="0"/>
          </a:p>
        </p:txBody>
      </p:sp>
      <p:sp>
        <p:nvSpPr>
          <p:cNvPr id="57" name="Shape 55"/>
          <p:cNvSpPr/>
          <p:nvPr/>
        </p:nvSpPr>
        <p:spPr>
          <a:xfrm>
            <a:off x="5138928" y="3657600"/>
            <a:ext cx="3621024" cy="950976"/>
          </a:xfrm>
          <a:prstGeom prst="roundRect">
            <a:avLst>
              <a:gd name="adj" fmla="val 5769"/>
            </a:avLst>
          </a:prstGeom>
          <a:solidFill>
            <a:srgbClr val="FCE4EC"/>
          </a:solidFill>
          <a:ln w="6350">
            <a:solidFill>
              <a:srgbClr val="DDDDDD"/>
            </a:solidFill>
            <a:prstDash val="solid"/>
          </a:ln>
        </p:spPr>
      </p:sp>
      <p:sp>
        <p:nvSpPr>
          <p:cNvPr id="58" name="Text 56"/>
          <p:cNvSpPr/>
          <p:nvPr/>
        </p:nvSpPr>
        <p:spPr>
          <a:xfrm>
            <a:off x="5248656" y="3712464"/>
            <a:ext cx="3383280" cy="274320"/>
          </a:xfrm>
          <a:prstGeom prst="rect">
            <a:avLst/>
          </a:prstGeom>
          <a:noFill/>
          <a:ln/>
        </p:spPr>
        <p:txBody>
          <a:bodyPr wrap="square" lIns="0" tIns="0" rIns="0" bIns="0" rtlCol="0" anchor="ctr"/>
          <a:lstStyle/>
          <a:p>
            <a:pPr marL="0" indent="0">
              <a:buNone/>
            </a:pPr>
            <a:r>
              <a:rPr lang="en-US" sz="1300" b="1" dirty="0">
                <a:solidFill>
                  <a:srgbClr val="B71C1C"/>
                </a:solidFill>
                <a:latin typeface="Calibri" pitchFamily="34" charset="0"/>
                <a:ea typeface="Calibri" pitchFamily="34" charset="-122"/>
                <a:cs typeface="Calibri" pitchFamily="34" charset="-120"/>
              </a:rPr>
              <a:t>ADMIN</a:t>
            </a:r>
            <a:endParaRPr lang="en-US" sz="1300" dirty="0"/>
          </a:p>
        </p:txBody>
      </p:sp>
      <p:sp>
        <p:nvSpPr>
          <p:cNvPr id="59" name="Shape 57"/>
          <p:cNvSpPr/>
          <p:nvPr/>
        </p:nvSpPr>
        <p:spPr>
          <a:xfrm>
            <a:off x="5248656" y="4059936"/>
            <a:ext cx="91440" cy="91440"/>
          </a:xfrm>
          <a:prstGeom prst="ellipse">
            <a:avLst/>
          </a:prstGeom>
          <a:solidFill>
            <a:srgbClr val="B71C1C"/>
          </a:solidFill>
          <a:ln w="12700">
            <a:solidFill>
              <a:srgbClr val="B71C1C"/>
            </a:solidFill>
            <a:prstDash val="solid"/>
          </a:ln>
        </p:spPr>
      </p:sp>
      <p:sp>
        <p:nvSpPr>
          <p:cNvPr id="60" name="Text 58"/>
          <p:cNvSpPr/>
          <p:nvPr/>
        </p:nvSpPr>
        <p:spPr>
          <a:xfrm>
            <a:off x="5413248" y="4023360"/>
            <a:ext cx="1627632"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All actions</a:t>
            </a:r>
            <a:endParaRPr lang="en-US" sz="1000" dirty="0"/>
          </a:p>
        </p:txBody>
      </p:sp>
      <p:sp>
        <p:nvSpPr>
          <p:cNvPr id="61" name="Shape 59"/>
          <p:cNvSpPr/>
          <p:nvPr/>
        </p:nvSpPr>
        <p:spPr>
          <a:xfrm>
            <a:off x="5248656" y="4306824"/>
            <a:ext cx="91440" cy="91440"/>
          </a:xfrm>
          <a:prstGeom prst="ellipse">
            <a:avLst/>
          </a:prstGeom>
          <a:solidFill>
            <a:srgbClr val="B71C1C"/>
          </a:solidFill>
          <a:ln w="12700">
            <a:solidFill>
              <a:srgbClr val="B71C1C"/>
            </a:solidFill>
            <a:prstDash val="solid"/>
          </a:ln>
        </p:spPr>
      </p:sp>
      <p:sp>
        <p:nvSpPr>
          <p:cNvPr id="62" name="Text 60"/>
          <p:cNvSpPr/>
          <p:nvPr/>
        </p:nvSpPr>
        <p:spPr>
          <a:xfrm>
            <a:off x="5413248" y="4270248"/>
            <a:ext cx="1627632"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Manage all users</a:t>
            </a:r>
            <a:endParaRPr lang="en-US" sz="1000" dirty="0"/>
          </a:p>
        </p:txBody>
      </p:sp>
      <p:sp>
        <p:nvSpPr>
          <p:cNvPr id="63" name="Shape 61"/>
          <p:cNvSpPr/>
          <p:nvPr/>
        </p:nvSpPr>
        <p:spPr>
          <a:xfrm>
            <a:off x="7114032" y="4059936"/>
            <a:ext cx="91440" cy="91440"/>
          </a:xfrm>
          <a:prstGeom prst="ellipse">
            <a:avLst/>
          </a:prstGeom>
          <a:solidFill>
            <a:srgbClr val="B71C1C"/>
          </a:solidFill>
          <a:ln w="12700">
            <a:solidFill>
              <a:srgbClr val="B71C1C"/>
            </a:solidFill>
            <a:prstDash val="solid"/>
          </a:ln>
        </p:spPr>
      </p:sp>
      <p:sp>
        <p:nvSpPr>
          <p:cNvPr id="64" name="Text 62"/>
          <p:cNvSpPr/>
          <p:nvPr/>
        </p:nvSpPr>
        <p:spPr>
          <a:xfrm>
            <a:off x="7278624" y="4023360"/>
            <a:ext cx="1426464"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Manage categories</a:t>
            </a:r>
            <a:endParaRPr lang="en-US" sz="1000" dirty="0"/>
          </a:p>
        </p:txBody>
      </p:sp>
      <p:sp>
        <p:nvSpPr>
          <p:cNvPr id="65" name="Shape 63"/>
          <p:cNvSpPr/>
          <p:nvPr/>
        </p:nvSpPr>
        <p:spPr>
          <a:xfrm>
            <a:off x="7114032" y="4306824"/>
            <a:ext cx="91440" cy="91440"/>
          </a:xfrm>
          <a:prstGeom prst="ellipse">
            <a:avLst/>
          </a:prstGeom>
          <a:solidFill>
            <a:srgbClr val="B71C1C"/>
          </a:solidFill>
          <a:ln w="12700">
            <a:solidFill>
              <a:srgbClr val="B71C1C"/>
            </a:solidFill>
            <a:prstDash val="solid"/>
          </a:ln>
        </p:spPr>
      </p:sp>
      <p:sp>
        <p:nvSpPr>
          <p:cNvPr id="66" name="Text 64"/>
          <p:cNvSpPr/>
          <p:nvPr/>
        </p:nvSpPr>
        <p:spPr>
          <a:xfrm>
            <a:off x="7278624" y="4270248"/>
            <a:ext cx="1426464" cy="219456"/>
          </a:xfrm>
          <a:prstGeom prst="rect">
            <a:avLst/>
          </a:prstGeom>
          <a:noFill/>
          <a:ln/>
        </p:spPr>
        <p:txBody>
          <a:bodyPr wrap="square" lIns="0" tIns="0" rIns="0" bIns="0" rtlCol="0" anchor="ctr"/>
          <a:lstStyle/>
          <a:p>
            <a:pPr marL="0" indent="0">
              <a:buNone/>
            </a:pPr>
            <a:r>
              <a:rPr lang="en-US" sz="1000" dirty="0">
                <a:solidFill>
                  <a:srgbClr val="263238"/>
                </a:solidFill>
                <a:latin typeface="Calibri" pitchFamily="34" charset="0"/>
                <a:ea typeface="Calibri" pitchFamily="34" charset="-122"/>
                <a:cs typeface="Calibri" pitchFamily="34" charset="-120"/>
              </a:rPr>
              <a:t>Delete any review</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A237E"/>
          </a:solidFill>
          <a:ln w="12700">
            <a:solidFill>
              <a:srgbClr val="1A237E"/>
            </a:solidFill>
            <a:prstDash val="solid"/>
          </a:ln>
        </p:spPr>
      </p:sp>
      <p:sp>
        <p:nvSpPr>
          <p:cNvPr id="3" name="Text 1"/>
          <p:cNvSpPr/>
          <p:nvPr/>
        </p:nvSpPr>
        <p:spPr>
          <a:xfrm>
            <a:off x="365760" y="73152"/>
            <a:ext cx="8412480" cy="566928"/>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8.  Database Design — 8 MySQL Tables</a:t>
            </a:r>
            <a:endParaRPr lang="en-US" sz="2800" dirty="0"/>
          </a:p>
        </p:txBody>
      </p:sp>
      <p:sp>
        <p:nvSpPr>
          <p:cNvPr id="4" name="Text 2"/>
          <p:cNvSpPr/>
          <p:nvPr/>
        </p:nvSpPr>
        <p:spPr>
          <a:xfrm>
            <a:off x="365760" y="658368"/>
            <a:ext cx="8412480" cy="329184"/>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JPA entities with relationships — created automatically on startup</a:t>
            </a:r>
            <a:endParaRPr lang="en-US" sz="1200" dirty="0"/>
          </a:p>
        </p:txBody>
      </p:sp>
      <p:sp>
        <p:nvSpPr>
          <p:cNvPr id="5" name="Text 3"/>
          <p:cNvSpPr/>
          <p:nvPr/>
        </p:nvSpPr>
        <p:spPr>
          <a:xfrm>
            <a:off x="0" y="4882896"/>
            <a:ext cx="9144000" cy="256032"/>
          </a:xfrm>
          <a:prstGeom prst="rect">
            <a:avLst/>
          </a:prstGeom>
          <a:noFill/>
          <a:ln/>
        </p:spPr>
        <p:txBody>
          <a:bodyPr wrap="square" lIns="0" tIns="0" rIns="0" bIns="0" rtlCol="0" anchor="ctr"/>
          <a:lstStyle/>
          <a:p>
            <a:pPr marL="0" indent="0" algn="ctr">
              <a:buNone/>
            </a:pPr>
            <a:r>
              <a:rPr lang="en-US" sz="900" dirty="0">
                <a:solidFill>
                  <a:srgbClr val="9E9E9E"/>
                </a:solidFill>
                <a:latin typeface="Calibri" pitchFamily="34" charset="0"/>
                <a:ea typeface="Calibri" pitchFamily="34" charset="-122"/>
                <a:cs typeface="Calibri" pitchFamily="34" charset="-120"/>
              </a:rPr>
              <a:t>AppVerse AI  |  Harini VS  |  Great Learning Capstone</a:t>
            </a:r>
            <a:endParaRPr lang="en-US" sz="900" dirty="0"/>
          </a:p>
        </p:txBody>
      </p:sp>
      <p:sp>
        <p:nvSpPr>
          <p:cNvPr id="6" name="Shape 4"/>
          <p:cNvSpPr/>
          <p:nvPr/>
        </p:nvSpPr>
        <p:spPr>
          <a:xfrm>
            <a:off x="201168" y="1115568"/>
            <a:ext cx="2743200" cy="1618488"/>
          </a:xfrm>
          <a:prstGeom prst="roundRect">
            <a:avLst>
              <a:gd name="adj" fmla="val 4520"/>
            </a:avLst>
          </a:prstGeom>
          <a:solidFill>
            <a:srgbClr val="FAFAFA"/>
          </a:solidFill>
          <a:ln w="6350">
            <a:solidFill>
              <a:srgbClr val="CCCCCC"/>
            </a:solidFill>
            <a:prstDash val="solid"/>
          </a:ln>
          <a:effectLst>
            <a:outerShdw blurRad="63500" dist="25400" dir="2700000" algn="bl" rotWithShape="0">
              <a:srgbClr val="000000">
                <a:alpha val="10000"/>
              </a:srgbClr>
            </a:outerShdw>
          </a:effectLst>
        </p:spPr>
      </p:sp>
      <p:sp>
        <p:nvSpPr>
          <p:cNvPr id="7" name="Shape 5"/>
          <p:cNvSpPr/>
          <p:nvPr/>
        </p:nvSpPr>
        <p:spPr>
          <a:xfrm>
            <a:off x="201168" y="1115568"/>
            <a:ext cx="2743200" cy="347472"/>
          </a:xfrm>
          <a:prstGeom prst="rect">
            <a:avLst/>
          </a:prstGeom>
          <a:solidFill>
            <a:srgbClr val="1565C0"/>
          </a:solidFill>
          <a:ln w="12700">
            <a:solidFill>
              <a:srgbClr val="1565C0"/>
            </a:solidFill>
            <a:prstDash val="solid"/>
          </a:ln>
        </p:spPr>
      </p:sp>
      <p:sp>
        <p:nvSpPr>
          <p:cNvPr id="8" name="Text 6"/>
          <p:cNvSpPr/>
          <p:nvPr/>
        </p:nvSpPr>
        <p:spPr>
          <a:xfrm>
            <a:off x="292608" y="1115568"/>
            <a:ext cx="26060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users</a:t>
            </a:r>
            <a:endParaRPr lang="en-US" sz="1300" dirty="0"/>
          </a:p>
        </p:txBody>
      </p:sp>
      <p:sp>
        <p:nvSpPr>
          <p:cNvPr id="9" name="Text 7"/>
          <p:cNvSpPr/>
          <p:nvPr/>
        </p:nvSpPr>
        <p:spPr>
          <a:xfrm>
            <a:off x="292608" y="1517904"/>
            <a:ext cx="2578608" cy="192024"/>
          </a:xfrm>
          <a:prstGeom prst="rect">
            <a:avLst/>
          </a:prstGeom>
          <a:noFill/>
          <a:ln/>
        </p:spPr>
        <p:txBody>
          <a:bodyPr wrap="square" lIns="0" tIns="0" rIns="0" bIns="0" rtlCol="0" anchor="ctr"/>
          <a:lstStyle/>
          <a:p>
            <a:pPr marL="0" indent="0">
              <a:buNone/>
            </a:pPr>
            <a:r>
              <a:rPr lang="en-US" sz="950" b="1" dirty="0">
                <a:solidFill>
                  <a:srgbClr val="1565C0"/>
                </a:solidFill>
                <a:latin typeface="Calibri" pitchFamily="34" charset="0"/>
                <a:ea typeface="Calibri" pitchFamily="34" charset="-122"/>
                <a:cs typeface="Calibri" pitchFamily="34" charset="-120"/>
              </a:rPr>
              <a:t>id  PK  AUTO_INCREMENT</a:t>
            </a:r>
            <a:endParaRPr lang="en-US" sz="950" dirty="0"/>
          </a:p>
        </p:txBody>
      </p:sp>
      <p:sp>
        <p:nvSpPr>
          <p:cNvPr id="10" name="Shape 8"/>
          <p:cNvSpPr/>
          <p:nvPr/>
        </p:nvSpPr>
        <p:spPr>
          <a:xfrm>
            <a:off x="237744" y="1728216"/>
            <a:ext cx="2670048" cy="228600"/>
          </a:xfrm>
          <a:prstGeom prst="rect">
            <a:avLst/>
          </a:prstGeom>
          <a:solidFill>
            <a:srgbClr val="F0F0F0"/>
          </a:solidFill>
          <a:ln w="12700">
            <a:solidFill>
              <a:srgbClr val="F0F0F0"/>
            </a:solidFill>
            <a:prstDash val="solid"/>
          </a:ln>
        </p:spPr>
      </p:sp>
      <p:sp>
        <p:nvSpPr>
          <p:cNvPr id="11" name="Text 9"/>
          <p:cNvSpPr/>
          <p:nvPr/>
        </p:nvSpPr>
        <p:spPr>
          <a:xfrm>
            <a:off x="292608" y="17465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name  NOT NULL</a:t>
            </a:r>
            <a:endParaRPr lang="en-US" sz="950" dirty="0"/>
          </a:p>
        </p:txBody>
      </p:sp>
      <p:sp>
        <p:nvSpPr>
          <p:cNvPr id="12" name="Text 10"/>
          <p:cNvSpPr/>
          <p:nvPr/>
        </p:nvSpPr>
        <p:spPr>
          <a:xfrm>
            <a:off x="292608" y="19751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email  UNIQUE NOT NULL</a:t>
            </a:r>
            <a:endParaRPr lang="en-US" sz="950" dirty="0"/>
          </a:p>
        </p:txBody>
      </p:sp>
      <p:sp>
        <p:nvSpPr>
          <p:cNvPr id="13" name="Shape 11"/>
          <p:cNvSpPr/>
          <p:nvPr/>
        </p:nvSpPr>
        <p:spPr>
          <a:xfrm>
            <a:off x="237744" y="2185416"/>
            <a:ext cx="2670048" cy="228600"/>
          </a:xfrm>
          <a:prstGeom prst="rect">
            <a:avLst/>
          </a:prstGeom>
          <a:solidFill>
            <a:srgbClr val="F0F0F0"/>
          </a:solidFill>
          <a:ln w="12700">
            <a:solidFill>
              <a:srgbClr val="F0F0F0"/>
            </a:solidFill>
            <a:prstDash val="solid"/>
          </a:ln>
        </p:spPr>
      </p:sp>
      <p:sp>
        <p:nvSpPr>
          <p:cNvPr id="14" name="Text 12"/>
          <p:cNvSpPr/>
          <p:nvPr/>
        </p:nvSpPr>
        <p:spPr>
          <a:xfrm>
            <a:off x="292608" y="22037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password  (BCrypt hashed)</a:t>
            </a:r>
            <a:endParaRPr lang="en-US" sz="950" dirty="0"/>
          </a:p>
        </p:txBody>
      </p:sp>
      <p:sp>
        <p:nvSpPr>
          <p:cNvPr id="15" name="Text 13"/>
          <p:cNvSpPr/>
          <p:nvPr/>
        </p:nvSpPr>
        <p:spPr>
          <a:xfrm>
            <a:off x="292608" y="24323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role  ENUM: USER/DEVELOPER/ADMIN</a:t>
            </a:r>
            <a:endParaRPr lang="en-US" sz="950" dirty="0"/>
          </a:p>
        </p:txBody>
      </p:sp>
      <p:sp>
        <p:nvSpPr>
          <p:cNvPr id="16" name="Shape 14"/>
          <p:cNvSpPr/>
          <p:nvPr/>
        </p:nvSpPr>
        <p:spPr>
          <a:xfrm>
            <a:off x="3145536" y="1115568"/>
            <a:ext cx="2743200" cy="2304288"/>
          </a:xfrm>
          <a:prstGeom prst="roundRect">
            <a:avLst>
              <a:gd name="adj" fmla="val 3175"/>
            </a:avLst>
          </a:prstGeom>
          <a:solidFill>
            <a:srgbClr val="FAFAFA"/>
          </a:solidFill>
          <a:ln w="6350">
            <a:solidFill>
              <a:srgbClr val="CCCCCC"/>
            </a:solidFill>
            <a:prstDash val="solid"/>
          </a:ln>
          <a:effectLst>
            <a:outerShdw blurRad="63500" dist="25400" dir="2700000" algn="bl" rotWithShape="0">
              <a:srgbClr val="000000">
                <a:alpha val="10000"/>
              </a:srgbClr>
            </a:outerShdw>
          </a:effectLst>
        </p:spPr>
      </p:sp>
      <p:sp>
        <p:nvSpPr>
          <p:cNvPr id="17" name="Shape 15"/>
          <p:cNvSpPr/>
          <p:nvPr/>
        </p:nvSpPr>
        <p:spPr>
          <a:xfrm>
            <a:off x="3145536" y="1115568"/>
            <a:ext cx="2743200" cy="347472"/>
          </a:xfrm>
          <a:prstGeom prst="rect">
            <a:avLst/>
          </a:prstGeom>
          <a:solidFill>
            <a:srgbClr val="1A237E"/>
          </a:solidFill>
          <a:ln w="12700">
            <a:solidFill>
              <a:srgbClr val="1A237E"/>
            </a:solidFill>
            <a:prstDash val="solid"/>
          </a:ln>
        </p:spPr>
      </p:sp>
      <p:sp>
        <p:nvSpPr>
          <p:cNvPr id="18" name="Text 16"/>
          <p:cNvSpPr/>
          <p:nvPr/>
        </p:nvSpPr>
        <p:spPr>
          <a:xfrm>
            <a:off x="3236976" y="1115568"/>
            <a:ext cx="26060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app</a:t>
            </a:r>
            <a:endParaRPr lang="en-US" sz="1300" dirty="0"/>
          </a:p>
        </p:txBody>
      </p:sp>
      <p:sp>
        <p:nvSpPr>
          <p:cNvPr id="19" name="Text 17"/>
          <p:cNvSpPr/>
          <p:nvPr/>
        </p:nvSpPr>
        <p:spPr>
          <a:xfrm>
            <a:off x="3236976" y="1517904"/>
            <a:ext cx="2578608" cy="192024"/>
          </a:xfrm>
          <a:prstGeom prst="rect">
            <a:avLst/>
          </a:prstGeom>
          <a:noFill/>
          <a:ln/>
        </p:spPr>
        <p:txBody>
          <a:bodyPr wrap="square" lIns="0" tIns="0" rIns="0" bIns="0" rtlCol="0" anchor="ctr"/>
          <a:lstStyle/>
          <a:p>
            <a:pPr marL="0" indent="0">
              <a:buNone/>
            </a:pPr>
            <a:r>
              <a:rPr lang="en-US" sz="950" b="1" dirty="0">
                <a:solidFill>
                  <a:srgbClr val="1A237E"/>
                </a:solidFill>
                <a:latin typeface="Calibri" pitchFamily="34" charset="0"/>
                <a:ea typeface="Calibri" pitchFamily="34" charset="-122"/>
                <a:cs typeface="Calibri" pitchFamily="34" charset="-120"/>
              </a:rPr>
              <a:t>id  PK</a:t>
            </a:r>
            <a:endParaRPr lang="en-US" sz="950" dirty="0"/>
          </a:p>
        </p:txBody>
      </p:sp>
      <p:sp>
        <p:nvSpPr>
          <p:cNvPr id="20" name="Shape 18"/>
          <p:cNvSpPr/>
          <p:nvPr/>
        </p:nvSpPr>
        <p:spPr>
          <a:xfrm>
            <a:off x="3182112" y="1728216"/>
            <a:ext cx="2670048" cy="228600"/>
          </a:xfrm>
          <a:prstGeom prst="rect">
            <a:avLst/>
          </a:prstGeom>
          <a:solidFill>
            <a:srgbClr val="F0F0F0"/>
          </a:solidFill>
          <a:ln w="12700">
            <a:solidFill>
              <a:srgbClr val="F0F0F0"/>
            </a:solidFill>
            <a:prstDash val="solid"/>
          </a:ln>
        </p:spPr>
      </p:sp>
      <p:sp>
        <p:nvSpPr>
          <p:cNvPr id="21" name="Text 19"/>
          <p:cNvSpPr/>
          <p:nvPr/>
        </p:nvSpPr>
        <p:spPr>
          <a:xfrm>
            <a:off x="3236976" y="17465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name  NOT NULL</a:t>
            </a:r>
            <a:endParaRPr lang="en-US" sz="950" dirty="0"/>
          </a:p>
        </p:txBody>
      </p:sp>
      <p:sp>
        <p:nvSpPr>
          <p:cNvPr id="22" name="Text 20"/>
          <p:cNvSpPr/>
          <p:nvPr/>
        </p:nvSpPr>
        <p:spPr>
          <a:xfrm>
            <a:off x="3236976" y="19751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description</a:t>
            </a:r>
            <a:endParaRPr lang="en-US" sz="950" dirty="0"/>
          </a:p>
        </p:txBody>
      </p:sp>
      <p:sp>
        <p:nvSpPr>
          <p:cNvPr id="23" name="Shape 21"/>
          <p:cNvSpPr/>
          <p:nvPr/>
        </p:nvSpPr>
        <p:spPr>
          <a:xfrm>
            <a:off x="3182112" y="2185416"/>
            <a:ext cx="2670048" cy="228600"/>
          </a:xfrm>
          <a:prstGeom prst="rect">
            <a:avLst/>
          </a:prstGeom>
          <a:solidFill>
            <a:srgbClr val="F0F0F0"/>
          </a:solidFill>
          <a:ln w="12700">
            <a:solidFill>
              <a:srgbClr val="F0F0F0"/>
            </a:solidFill>
            <a:prstDash val="solid"/>
          </a:ln>
        </p:spPr>
      </p:sp>
      <p:sp>
        <p:nvSpPr>
          <p:cNvPr id="24" name="Text 22"/>
          <p:cNvSpPr/>
          <p:nvPr/>
        </p:nvSpPr>
        <p:spPr>
          <a:xfrm>
            <a:off x="3236976" y="22037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icon_url</a:t>
            </a:r>
            <a:endParaRPr lang="en-US" sz="950" dirty="0"/>
          </a:p>
        </p:txBody>
      </p:sp>
      <p:sp>
        <p:nvSpPr>
          <p:cNvPr id="25" name="Text 23"/>
          <p:cNvSpPr/>
          <p:nvPr/>
        </p:nvSpPr>
        <p:spPr>
          <a:xfrm>
            <a:off x="3236976" y="24323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avg_rating  FLOAT</a:t>
            </a:r>
            <a:endParaRPr lang="en-US" sz="950" dirty="0"/>
          </a:p>
        </p:txBody>
      </p:sp>
      <p:sp>
        <p:nvSpPr>
          <p:cNvPr id="26" name="Shape 24"/>
          <p:cNvSpPr/>
          <p:nvPr/>
        </p:nvSpPr>
        <p:spPr>
          <a:xfrm>
            <a:off x="3182112" y="2642616"/>
            <a:ext cx="2670048" cy="228600"/>
          </a:xfrm>
          <a:prstGeom prst="rect">
            <a:avLst/>
          </a:prstGeom>
          <a:solidFill>
            <a:srgbClr val="F0F0F0"/>
          </a:solidFill>
          <a:ln w="12700">
            <a:solidFill>
              <a:srgbClr val="F0F0F0"/>
            </a:solidFill>
            <a:prstDash val="solid"/>
          </a:ln>
        </p:spPr>
      </p:sp>
      <p:sp>
        <p:nvSpPr>
          <p:cNvPr id="27" name="Text 25"/>
          <p:cNvSpPr/>
          <p:nvPr/>
        </p:nvSpPr>
        <p:spPr>
          <a:xfrm>
            <a:off x="3236976" y="26609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total_downloads  BIGINT</a:t>
            </a:r>
            <a:endParaRPr lang="en-US" sz="950" dirty="0"/>
          </a:p>
        </p:txBody>
      </p:sp>
      <p:sp>
        <p:nvSpPr>
          <p:cNvPr id="28" name="Text 26"/>
          <p:cNvSpPr/>
          <p:nvPr/>
        </p:nvSpPr>
        <p:spPr>
          <a:xfrm>
            <a:off x="3236976" y="2889504"/>
            <a:ext cx="2578608" cy="192024"/>
          </a:xfrm>
          <a:prstGeom prst="rect">
            <a:avLst/>
          </a:prstGeom>
          <a:noFill/>
          <a:ln/>
        </p:spPr>
        <p:txBody>
          <a:bodyPr wrap="square" lIns="0" tIns="0" rIns="0" bIns="0" rtlCol="0" anchor="ctr"/>
          <a:lstStyle/>
          <a:p>
            <a:pPr marL="0" indent="0">
              <a:buNone/>
            </a:pPr>
            <a:r>
              <a:rPr lang="en-US" sz="950" dirty="0">
                <a:solidFill>
                  <a:srgbClr val="E65100"/>
                </a:solidFill>
                <a:latin typeface="Calibri" pitchFamily="34" charset="0"/>
                <a:ea typeface="Calibri" pitchFamily="34" charset="-122"/>
                <a:cs typeface="Calibri" pitchFamily="34" charset="-120"/>
              </a:rPr>
              <a:t>developer_id  FK -&gt; users</a:t>
            </a:r>
            <a:endParaRPr lang="en-US" sz="950" dirty="0"/>
          </a:p>
        </p:txBody>
      </p:sp>
      <p:sp>
        <p:nvSpPr>
          <p:cNvPr id="29" name="Shape 27"/>
          <p:cNvSpPr/>
          <p:nvPr/>
        </p:nvSpPr>
        <p:spPr>
          <a:xfrm>
            <a:off x="3182112" y="3099816"/>
            <a:ext cx="2670048" cy="228600"/>
          </a:xfrm>
          <a:prstGeom prst="rect">
            <a:avLst/>
          </a:prstGeom>
          <a:solidFill>
            <a:srgbClr val="F0F0F0"/>
          </a:solidFill>
          <a:ln w="12700">
            <a:solidFill>
              <a:srgbClr val="F0F0F0"/>
            </a:solidFill>
            <a:prstDash val="solid"/>
          </a:ln>
        </p:spPr>
      </p:sp>
      <p:sp>
        <p:nvSpPr>
          <p:cNvPr id="30" name="Text 28"/>
          <p:cNvSpPr/>
          <p:nvPr/>
        </p:nvSpPr>
        <p:spPr>
          <a:xfrm>
            <a:off x="3236976" y="3118104"/>
            <a:ext cx="2578608" cy="192024"/>
          </a:xfrm>
          <a:prstGeom prst="rect">
            <a:avLst/>
          </a:prstGeom>
          <a:noFill/>
          <a:ln/>
        </p:spPr>
        <p:txBody>
          <a:bodyPr wrap="square" lIns="0" tIns="0" rIns="0" bIns="0" rtlCol="0" anchor="ctr"/>
          <a:lstStyle/>
          <a:p>
            <a:pPr marL="0" indent="0">
              <a:buNone/>
            </a:pPr>
            <a:r>
              <a:rPr lang="en-US" sz="950" dirty="0">
                <a:solidFill>
                  <a:srgbClr val="E65100"/>
                </a:solidFill>
                <a:latin typeface="Calibri" pitchFamily="34" charset="0"/>
                <a:ea typeface="Calibri" pitchFamily="34" charset="-122"/>
                <a:cs typeface="Calibri" pitchFamily="34" charset="-120"/>
              </a:rPr>
              <a:t>category_id  FK -&gt; category</a:t>
            </a:r>
            <a:endParaRPr lang="en-US" sz="950" dirty="0"/>
          </a:p>
        </p:txBody>
      </p:sp>
      <p:sp>
        <p:nvSpPr>
          <p:cNvPr id="31" name="Shape 29"/>
          <p:cNvSpPr/>
          <p:nvPr/>
        </p:nvSpPr>
        <p:spPr>
          <a:xfrm>
            <a:off x="6108192" y="1115568"/>
            <a:ext cx="2743200" cy="1161288"/>
          </a:xfrm>
          <a:prstGeom prst="roundRect">
            <a:avLst>
              <a:gd name="adj" fmla="val 6299"/>
            </a:avLst>
          </a:prstGeom>
          <a:solidFill>
            <a:srgbClr val="FAFAFA"/>
          </a:solidFill>
          <a:ln w="6350">
            <a:solidFill>
              <a:srgbClr val="CCCCCC"/>
            </a:solidFill>
            <a:prstDash val="solid"/>
          </a:ln>
          <a:effectLst>
            <a:outerShdw blurRad="63500" dist="25400" dir="2700000" algn="bl" rotWithShape="0">
              <a:srgbClr val="000000">
                <a:alpha val="10000"/>
              </a:srgbClr>
            </a:outerShdw>
          </a:effectLst>
        </p:spPr>
      </p:sp>
      <p:sp>
        <p:nvSpPr>
          <p:cNvPr id="32" name="Shape 30"/>
          <p:cNvSpPr/>
          <p:nvPr/>
        </p:nvSpPr>
        <p:spPr>
          <a:xfrm>
            <a:off x="6108192" y="1115568"/>
            <a:ext cx="2743200" cy="347472"/>
          </a:xfrm>
          <a:prstGeom prst="rect">
            <a:avLst/>
          </a:prstGeom>
          <a:solidFill>
            <a:srgbClr val="E65100"/>
          </a:solidFill>
          <a:ln w="12700">
            <a:solidFill>
              <a:srgbClr val="E65100"/>
            </a:solidFill>
            <a:prstDash val="solid"/>
          </a:ln>
        </p:spPr>
      </p:sp>
      <p:sp>
        <p:nvSpPr>
          <p:cNvPr id="33" name="Text 31"/>
          <p:cNvSpPr/>
          <p:nvPr/>
        </p:nvSpPr>
        <p:spPr>
          <a:xfrm>
            <a:off x="6199632" y="1115568"/>
            <a:ext cx="26060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category</a:t>
            </a:r>
            <a:endParaRPr lang="en-US" sz="1300" dirty="0"/>
          </a:p>
        </p:txBody>
      </p:sp>
      <p:sp>
        <p:nvSpPr>
          <p:cNvPr id="34" name="Text 32"/>
          <p:cNvSpPr/>
          <p:nvPr/>
        </p:nvSpPr>
        <p:spPr>
          <a:xfrm>
            <a:off x="6199632" y="1517904"/>
            <a:ext cx="2578608" cy="192024"/>
          </a:xfrm>
          <a:prstGeom prst="rect">
            <a:avLst/>
          </a:prstGeom>
          <a:noFill/>
          <a:ln/>
        </p:spPr>
        <p:txBody>
          <a:bodyPr wrap="square" lIns="0" tIns="0" rIns="0" bIns="0" rtlCol="0" anchor="ctr"/>
          <a:lstStyle/>
          <a:p>
            <a:pPr marL="0" indent="0">
              <a:buNone/>
            </a:pPr>
            <a:r>
              <a:rPr lang="en-US" sz="950" b="1" dirty="0">
                <a:solidFill>
                  <a:srgbClr val="E65100"/>
                </a:solidFill>
                <a:latin typeface="Calibri" pitchFamily="34" charset="0"/>
                <a:ea typeface="Calibri" pitchFamily="34" charset="-122"/>
                <a:cs typeface="Calibri" pitchFamily="34" charset="-120"/>
              </a:rPr>
              <a:t>id  PK</a:t>
            </a:r>
            <a:endParaRPr lang="en-US" sz="950" dirty="0"/>
          </a:p>
        </p:txBody>
      </p:sp>
      <p:sp>
        <p:nvSpPr>
          <p:cNvPr id="35" name="Shape 33"/>
          <p:cNvSpPr/>
          <p:nvPr/>
        </p:nvSpPr>
        <p:spPr>
          <a:xfrm>
            <a:off x="6144768" y="1728216"/>
            <a:ext cx="2670048" cy="228600"/>
          </a:xfrm>
          <a:prstGeom prst="rect">
            <a:avLst/>
          </a:prstGeom>
          <a:solidFill>
            <a:srgbClr val="F0F0F0"/>
          </a:solidFill>
          <a:ln w="12700">
            <a:solidFill>
              <a:srgbClr val="F0F0F0"/>
            </a:solidFill>
            <a:prstDash val="solid"/>
          </a:ln>
        </p:spPr>
      </p:sp>
      <p:sp>
        <p:nvSpPr>
          <p:cNvPr id="36" name="Text 34"/>
          <p:cNvSpPr/>
          <p:nvPr/>
        </p:nvSpPr>
        <p:spPr>
          <a:xfrm>
            <a:off x="6199632" y="17465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name  UNIQUE NOT NULL</a:t>
            </a:r>
            <a:endParaRPr lang="en-US" sz="950" dirty="0"/>
          </a:p>
        </p:txBody>
      </p:sp>
      <p:sp>
        <p:nvSpPr>
          <p:cNvPr id="37" name="Text 35"/>
          <p:cNvSpPr/>
          <p:nvPr/>
        </p:nvSpPr>
        <p:spPr>
          <a:xfrm>
            <a:off x="6199632" y="1975104"/>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description</a:t>
            </a:r>
            <a:endParaRPr lang="en-US" sz="950" dirty="0"/>
          </a:p>
        </p:txBody>
      </p:sp>
      <p:sp>
        <p:nvSpPr>
          <p:cNvPr id="38" name="Shape 36"/>
          <p:cNvSpPr/>
          <p:nvPr/>
        </p:nvSpPr>
        <p:spPr>
          <a:xfrm>
            <a:off x="201168" y="2816352"/>
            <a:ext cx="2743200" cy="1847088"/>
          </a:xfrm>
          <a:prstGeom prst="roundRect">
            <a:avLst>
              <a:gd name="adj" fmla="val 3960"/>
            </a:avLst>
          </a:prstGeom>
          <a:solidFill>
            <a:srgbClr val="FAFAFA"/>
          </a:solidFill>
          <a:ln w="6350">
            <a:solidFill>
              <a:srgbClr val="CCCCCC"/>
            </a:solidFill>
            <a:prstDash val="solid"/>
          </a:ln>
          <a:effectLst>
            <a:outerShdw blurRad="63500" dist="25400" dir="2700000" algn="bl" rotWithShape="0">
              <a:srgbClr val="000000">
                <a:alpha val="10000"/>
              </a:srgbClr>
            </a:outerShdw>
          </a:effectLst>
        </p:spPr>
      </p:sp>
      <p:sp>
        <p:nvSpPr>
          <p:cNvPr id="39" name="Shape 37"/>
          <p:cNvSpPr/>
          <p:nvPr/>
        </p:nvSpPr>
        <p:spPr>
          <a:xfrm>
            <a:off x="201168" y="2816352"/>
            <a:ext cx="2743200" cy="347472"/>
          </a:xfrm>
          <a:prstGeom prst="rect">
            <a:avLst/>
          </a:prstGeom>
          <a:solidFill>
            <a:srgbClr val="B71C1C"/>
          </a:solidFill>
          <a:ln w="12700">
            <a:solidFill>
              <a:srgbClr val="B71C1C"/>
            </a:solidFill>
            <a:prstDash val="solid"/>
          </a:ln>
        </p:spPr>
      </p:sp>
      <p:sp>
        <p:nvSpPr>
          <p:cNvPr id="40" name="Text 38"/>
          <p:cNvSpPr/>
          <p:nvPr/>
        </p:nvSpPr>
        <p:spPr>
          <a:xfrm>
            <a:off x="292608" y="2816352"/>
            <a:ext cx="26060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41" name="Text 39"/>
          <p:cNvSpPr/>
          <p:nvPr/>
        </p:nvSpPr>
        <p:spPr>
          <a:xfrm>
            <a:off x="292608" y="3218688"/>
            <a:ext cx="2578608" cy="192024"/>
          </a:xfrm>
          <a:prstGeom prst="rect">
            <a:avLst/>
          </a:prstGeom>
          <a:noFill/>
          <a:ln/>
        </p:spPr>
        <p:txBody>
          <a:bodyPr wrap="square" lIns="0" tIns="0" rIns="0" bIns="0" rtlCol="0" anchor="ctr"/>
          <a:lstStyle/>
          <a:p>
            <a:pPr marL="0" indent="0">
              <a:buNone/>
            </a:pPr>
            <a:r>
              <a:rPr lang="en-US" sz="950" b="1" dirty="0">
                <a:solidFill>
                  <a:srgbClr val="B71C1C"/>
                </a:solidFill>
                <a:latin typeface="Calibri" pitchFamily="34" charset="0"/>
                <a:ea typeface="Calibri" pitchFamily="34" charset="-122"/>
                <a:cs typeface="Calibri" pitchFamily="34" charset="-120"/>
              </a:rPr>
              <a:t>id  PK</a:t>
            </a:r>
            <a:endParaRPr lang="en-US" sz="950" dirty="0"/>
          </a:p>
        </p:txBody>
      </p:sp>
      <p:sp>
        <p:nvSpPr>
          <p:cNvPr id="42" name="Shape 40"/>
          <p:cNvSpPr/>
          <p:nvPr/>
        </p:nvSpPr>
        <p:spPr>
          <a:xfrm>
            <a:off x="237744" y="3429000"/>
            <a:ext cx="2670048" cy="228600"/>
          </a:xfrm>
          <a:prstGeom prst="rect">
            <a:avLst/>
          </a:prstGeom>
          <a:solidFill>
            <a:srgbClr val="F0F0F0"/>
          </a:solidFill>
          <a:ln w="12700">
            <a:solidFill>
              <a:srgbClr val="F0F0F0"/>
            </a:solidFill>
            <a:prstDash val="solid"/>
          </a:ln>
        </p:spPr>
      </p:sp>
      <p:sp>
        <p:nvSpPr>
          <p:cNvPr id="43" name="Text 41"/>
          <p:cNvSpPr/>
          <p:nvPr/>
        </p:nvSpPr>
        <p:spPr>
          <a:xfrm>
            <a:off x="292608" y="3447288"/>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comment  NOT NULL</a:t>
            </a:r>
            <a:endParaRPr lang="en-US" sz="950" dirty="0"/>
          </a:p>
        </p:txBody>
      </p:sp>
      <p:sp>
        <p:nvSpPr>
          <p:cNvPr id="44" name="Text 42"/>
          <p:cNvSpPr/>
          <p:nvPr/>
        </p:nvSpPr>
        <p:spPr>
          <a:xfrm>
            <a:off x="292608" y="3675888"/>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rating  1-5</a:t>
            </a:r>
            <a:endParaRPr lang="en-US" sz="950" dirty="0"/>
          </a:p>
        </p:txBody>
      </p:sp>
      <p:sp>
        <p:nvSpPr>
          <p:cNvPr id="45" name="Shape 43"/>
          <p:cNvSpPr/>
          <p:nvPr/>
        </p:nvSpPr>
        <p:spPr>
          <a:xfrm>
            <a:off x="237744" y="3886200"/>
            <a:ext cx="2670048" cy="228600"/>
          </a:xfrm>
          <a:prstGeom prst="rect">
            <a:avLst/>
          </a:prstGeom>
          <a:solidFill>
            <a:srgbClr val="F0F0F0"/>
          </a:solidFill>
          <a:ln w="12700">
            <a:solidFill>
              <a:srgbClr val="F0F0F0"/>
            </a:solidFill>
            <a:prstDash val="solid"/>
          </a:ln>
        </p:spPr>
      </p:sp>
      <p:sp>
        <p:nvSpPr>
          <p:cNvPr id="46" name="Text 44"/>
          <p:cNvSpPr/>
          <p:nvPr/>
        </p:nvSpPr>
        <p:spPr>
          <a:xfrm>
            <a:off x="292608" y="3904488"/>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sentiment  POSITIVE/NEGATIVE/NEUTRAL</a:t>
            </a:r>
            <a:endParaRPr lang="en-US" sz="950" dirty="0"/>
          </a:p>
        </p:txBody>
      </p:sp>
      <p:sp>
        <p:nvSpPr>
          <p:cNvPr id="47" name="Text 45"/>
          <p:cNvSpPr/>
          <p:nvPr/>
        </p:nvSpPr>
        <p:spPr>
          <a:xfrm>
            <a:off x="292608" y="4133088"/>
            <a:ext cx="2578608" cy="192024"/>
          </a:xfrm>
          <a:prstGeom prst="rect">
            <a:avLst/>
          </a:prstGeom>
          <a:noFill/>
          <a:ln/>
        </p:spPr>
        <p:txBody>
          <a:bodyPr wrap="square" lIns="0" tIns="0" rIns="0" bIns="0" rtlCol="0" anchor="ctr"/>
          <a:lstStyle/>
          <a:p>
            <a:pPr marL="0" indent="0">
              <a:buNone/>
            </a:pPr>
            <a:r>
              <a:rPr lang="en-US" sz="950" dirty="0">
                <a:solidFill>
                  <a:srgbClr val="E65100"/>
                </a:solidFill>
                <a:latin typeface="Calibri" pitchFamily="34" charset="0"/>
                <a:ea typeface="Calibri" pitchFamily="34" charset="-122"/>
                <a:cs typeface="Calibri" pitchFamily="34" charset="-120"/>
              </a:rPr>
              <a:t>user_id  FK</a:t>
            </a:r>
            <a:endParaRPr lang="en-US" sz="950" dirty="0"/>
          </a:p>
        </p:txBody>
      </p:sp>
      <p:sp>
        <p:nvSpPr>
          <p:cNvPr id="48" name="Shape 46"/>
          <p:cNvSpPr/>
          <p:nvPr/>
        </p:nvSpPr>
        <p:spPr>
          <a:xfrm>
            <a:off x="237744" y="4343400"/>
            <a:ext cx="2670048" cy="228600"/>
          </a:xfrm>
          <a:prstGeom prst="rect">
            <a:avLst/>
          </a:prstGeom>
          <a:solidFill>
            <a:srgbClr val="F0F0F0"/>
          </a:solidFill>
          <a:ln w="12700">
            <a:solidFill>
              <a:srgbClr val="F0F0F0"/>
            </a:solidFill>
            <a:prstDash val="solid"/>
          </a:ln>
        </p:spPr>
      </p:sp>
      <p:sp>
        <p:nvSpPr>
          <p:cNvPr id="49" name="Text 47"/>
          <p:cNvSpPr/>
          <p:nvPr/>
        </p:nvSpPr>
        <p:spPr>
          <a:xfrm>
            <a:off x="292608" y="4361688"/>
            <a:ext cx="2578608" cy="192024"/>
          </a:xfrm>
          <a:prstGeom prst="rect">
            <a:avLst/>
          </a:prstGeom>
          <a:noFill/>
          <a:ln/>
        </p:spPr>
        <p:txBody>
          <a:bodyPr wrap="square" lIns="0" tIns="0" rIns="0" bIns="0" rtlCol="0" anchor="ctr"/>
          <a:lstStyle/>
          <a:p>
            <a:pPr marL="0" indent="0">
              <a:buNone/>
            </a:pPr>
            <a:r>
              <a:rPr lang="en-US" sz="950" dirty="0">
                <a:solidFill>
                  <a:srgbClr val="E65100"/>
                </a:solidFill>
                <a:latin typeface="Calibri" pitchFamily="34" charset="0"/>
                <a:ea typeface="Calibri" pitchFamily="34" charset="-122"/>
                <a:cs typeface="Calibri" pitchFamily="34" charset="-120"/>
              </a:rPr>
              <a:t>app_id  FK</a:t>
            </a:r>
            <a:endParaRPr lang="en-US" sz="950" dirty="0"/>
          </a:p>
        </p:txBody>
      </p:sp>
      <p:sp>
        <p:nvSpPr>
          <p:cNvPr id="50" name="Shape 48"/>
          <p:cNvSpPr/>
          <p:nvPr/>
        </p:nvSpPr>
        <p:spPr>
          <a:xfrm>
            <a:off x="3145536" y="2816352"/>
            <a:ext cx="2743200" cy="1389888"/>
          </a:xfrm>
          <a:prstGeom prst="roundRect">
            <a:avLst>
              <a:gd name="adj" fmla="val 5263"/>
            </a:avLst>
          </a:prstGeom>
          <a:solidFill>
            <a:srgbClr val="FAFAFA"/>
          </a:solidFill>
          <a:ln w="6350">
            <a:solidFill>
              <a:srgbClr val="CCCCCC"/>
            </a:solidFill>
            <a:prstDash val="solid"/>
          </a:ln>
          <a:effectLst>
            <a:outerShdw blurRad="63500" dist="25400" dir="2700000" algn="bl" rotWithShape="0">
              <a:srgbClr val="000000">
                <a:alpha val="10000"/>
              </a:srgbClr>
            </a:outerShdw>
          </a:effectLst>
        </p:spPr>
      </p:sp>
      <p:sp>
        <p:nvSpPr>
          <p:cNvPr id="51" name="Shape 49"/>
          <p:cNvSpPr/>
          <p:nvPr/>
        </p:nvSpPr>
        <p:spPr>
          <a:xfrm>
            <a:off x="3145536" y="2816352"/>
            <a:ext cx="2743200" cy="347472"/>
          </a:xfrm>
          <a:prstGeom prst="rect">
            <a:avLst/>
          </a:prstGeom>
          <a:solidFill>
            <a:srgbClr val="00695C"/>
          </a:solidFill>
          <a:ln w="12700">
            <a:solidFill>
              <a:srgbClr val="00695C"/>
            </a:solidFill>
            <a:prstDash val="solid"/>
          </a:ln>
        </p:spPr>
      </p:sp>
      <p:sp>
        <p:nvSpPr>
          <p:cNvPr id="52" name="Text 50"/>
          <p:cNvSpPr/>
          <p:nvPr/>
        </p:nvSpPr>
        <p:spPr>
          <a:xfrm>
            <a:off x="3236976" y="2816352"/>
            <a:ext cx="26060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download</a:t>
            </a:r>
            <a:endParaRPr lang="en-US" sz="1300" dirty="0"/>
          </a:p>
        </p:txBody>
      </p:sp>
      <p:sp>
        <p:nvSpPr>
          <p:cNvPr id="53" name="Text 51"/>
          <p:cNvSpPr/>
          <p:nvPr/>
        </p:nvSpPr>
        <p:spPr>
          <a:xfrm>
            <a:off x="3236976" y="3218688"/>
            <a:ext cx="2578608" cy="192024"/>
          </a:xfrm>
          <a:prstGeom prst="rect">
            <a:avLst/>
          </a:prstGeom>
          <a:noFill/>
          <a:ln/>
        </p:spPr>
        <p:txBody>
          <a:bodyPr wrap="square" lIns="0" tIns="0" rIns="0" bIns="0" rtlCol="0" anchor="ctr"/>
          <a:lstStyle/>
          <a:p>
            <a:pPr marL="0" indent="0">
              <a:buNone/>
            </a:pPr>
            <a:r>
              <a:rPr lang="en-US" sz="950" b="1" dirty="0">
                <a:solidFill>
                  <a:srgbClr val="00695C"/>
                </a:solidFill>
                <a:latin typeface="Calibri" pitchFamily="34" charset="0"/>
                <a:ea typeface="Calibri" pitchFamily="34" charset="-122"/>
                <a:cs typeface="Calibri" pitchFamily="34" charset="-120"/>
              </a:rPr>
              <a:t>id  PK</a:t>
            </a:r>
            <a:endParaRPr lang="en-US" sz="950" dirty="0"/>
          </a:p>
        </p:txBody>
      </p:sp>
      <p:sp>
        <p:nvSpPr>
          <p:cNvPr id="54" name="Shape 52"/>
          <p:cNvSpPr/>
          <p:nvPr/>
        </p:nvSpPr>
        <p:spPr>
          <a:xfrm>
            <a:off x="3182112" y="3429000"/>
            <a:ext cx="2670048" cy="228600"/>
          </a:xfrm>
          <a:prstGeom prst="rect">
            <a:avLst/>
          </a:prstGeom>
          <a:solidFill>
            <a:srgbClr val="F0F0F0"/>
          </a:solidFill>
          <a:ln w="12700">
            <a:solidFill>
              <a:srgbClr val="F0F0F0"/>
            </a:solidFill>
            <a:prstDash val="solid"/>
          </a:ln>
        </p:spPr>
      </p:sp>
      <p:sp>
        <p:nvSpPr>
          <p:cNvPr id="55" name="Text 53"/>
          <p:cNvSpPr/>
          <p:nvPr/>
        </p:nvSpPr>
        <p:spPr>
          <a:xfrm>
            <a:off x="3236976" y="3447288"/>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downloaded_at  DATETIME</a:t>
            </a:r>
            <a:endParaRPr lang="en-US" sz="950" dirty="0"/>
          </a:p>
        </p:txBody>
      </p:sp>
      <p:sp>
        <p:nvSpPr>
          <p:cNvPr id="56" name="Text 54"/>
          <p:cNvSpPr/>
          <p:nvPr/>
        </p:nvSpPr>
        <p:spPr>
          <a:xfrm>
            <a:off x="3236976" y="3675888"/>
            <a:ext cx="2578608" cy="192024"/>
          </a:xfrm>
          <a:prstGeom prst="rect">
            <a:avLst/>
          </a:prstGeom>
          <a:noFill/>
          <a:ln/>
        </p:spPr>
        <p:txBody>
          <a:bodyPr wrap="square" lIns="0" tIns="0" rIns="0" bIns="0" rtlCol="0" anchor="ctr"/>
          <a:lstStyle/>
          <a:p>
            <a:pPr marL="0" indent="0">
              <a:buNone/>
            </a:pPr>
            <a:r>
              <a:rPr lang="en-US" sz="950" dirty="0">
                <a:solidFill>
                  <a:srgbClr val="E65100"/>
                </a:solidFill>
                <a:latin typeface="Calibri" pitchFamily="34" charset="0"/>
                <a:ea typeface="Calibri" pitchFamily="34" charset="-122"/>
                <a:cs typeface="Calibri" pitchFamily="34" charset="-120"/>
              </a:rPr>
              <a:t>user_id  FK -&gt; users</a:t>
            </a:r>
            <a:endParaRPr lang="en-US" sz="950" dirty="0"/>
          </a:p>
        </p:txBody>
      </p:sp>
      <p:sp>
        <p:nvSpPr>
          <p:cNvPr id="57" name="Shape 55"/>
          <p:cNvSpPr/>
          <p:nvPr/>
        </p:nvSpPr>
        <p:spPr>
          <a:xfrm>
            <a:off x="3182112" y="3886200"/>
            <a:ext cx="2670048" cy="228600"/>
          </a:xfrm>
          <a:prstGeom prst="rect">
            <a:avLst/>
          </a:prstGeom>
          <a:solidFill>
            <a:srgbClr val="F0F0F0"/>
          </a:solidFill>
          <a:ln w="12700">
            <a:solidFill>
              <a:srgbClr val="F0F0F0"/>
            </a:solidFill>
            <a:prstDash val="solid"/>
          </a:ln>
        </p:spPr>
      </p:sp>
      <p:sp>
        <p:nvSpPr>
          <p:cNvPr id="58" name="Text 56"/>
          <p:cNvSpPr/>
          <p:nvPr/>
        </p:nvSpPr>
        <p:spPr>
          <a:xfrm>
            <a:off x="3236976" y="3904488"/>
            <a:ext cx="2578608" cy="192024"/>
          </a:xfrm>
          <a:prstGeom prst="rect">
            <a:avLst/>
          </a:prstGeom>
          <a:noFill/>
          <a:ln/>
        </p:spPr>
        <p:txBody>
          <a:bodyPr wrap="square" lIns="0" tIns="0" rIns="0" bIns="0" rtlCol="0" anchor="ctr"/>
          <a:lstStyle/>
          <a:p>
            <a:pPr marL="0" indent="0">
              <a:buNone/>
            </a:pPr>
            <a:r>
              <a:rPr lang="en-US" sz="950" dirty="0">
                <a:solidFill>
                  <a:srgbClr val="E65100"/>
                </a:solidFill>
                <a:latin typeface="Calibri" pitchFamily="34" charset="0"/>
                <a:ea typeface="Calibri" pitchFamily="34" charset="-122"/>
                <a:cs typeface="Calibri" pitchFamily="34" charset="-120"/>
              </a:rPr>
              <a:t>app_id  FK -&gt; app</a:t>
            </a:r>
            <a:endParaRPr lang="en-US" sz="950" dirty="0"/>
          </a:p>
        </p:txBody>
      </p:sp>
      <p:sp>
        <p:nvSpPr>
          <p:cNvPr id="59" name="Shape 57"/>
          <p:cNvSpPr/>
          <p:nvPr/>
        </p:nvSpPr>
        <p:spPr>
          <a:xfrm>
            <a:off x="6108192" y="2816352"/>
            <a:ext cx="2743200" cy="1618488"/>
          </a:xfrm>
          <a:prstGeom prst="roundRect">
            <a:avLst>
              <a:gd name="adj" fmla="val 4520"/>
            </a:avLst>
          </a:prstGeom>
          <a:solidFill>
            <a:srgbClr val="FAFAFA"/>
          </a:solidFill>
          <a:ln w="6350">
            <a:solidFill>
              <a:srgbClr val="CCCCCC"/>
            </a:solidFill>
            <a:prstDash val="solid"/>
          </a:ln>
          <a:effectLst>
            <a:outerShdw blurRad="63500" dist="25400" dir="2700000" algn="bl" rotWithShape="0">
              <a:srgbClr val="000000">
                <a:alpha val="10000"/>
              </a:srgbClr>
            </a:outerShdw>
          </a:effectLst>
        </p:spPr>
      </p:sp>
      <p:sp>
        <p:nvSpPr>
          <p:cNvPr id="60" name="Shape 58"/>
          <p:cNvSpPr/>
          <p:nvPr/>
        </p:nvSpPr>
        <p:spPr>
          <a:xfrm>
            <a:off x="6108192" y="2816352"/>
            <a:ext cx="2743200" cy="347472"/>
          </a:xfrm>
          <a:prstGeom prst="rect">
            <a:avLst/>
          </a:prstGeom>
          <a:solidFill>
            <a:srgbClr val="4A148C"/>
          </a:solidFill>
          <a:ln w="12700">
            <a:solidFill>
              <a:srgbClr val="4A148C"/>
            </a:solidFill>
            <a:prstDash val="solid"/>
          </a:ln>
        </p:spPr>
      </p:sp>
      <p:sp>
        <p:nvSpPr>
          <p:cNvPr id="61" name="Text 59"/>
          <p:cNvSpPr/>
          <p:nvPr/>
        </p:nvSpPr>
        <p:spPr>
          <a:xfrm>
            <a:off x="6199632" y="2816352"/>
            <a:ext cx="26060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app_version</a:t>
            </a:r>
            <a:endParaRPr lang="en-US" sz="1300" dirty="0"/>
          </a:p>
        </p:txBody>
      </p:sp>
      <p:sp>
        <p:nvSpPr>
          <p:cNvPr id="62" name="Text 60"/>
          <p:cNvSpPr/>
          <p:nvPr/>
        </p:nvSpPr>
        <p:spPr>
          <a:xfrm>
            <a:off x="6199632" y="3218688"/>
            <a:ext cx="2578608" cy="192024"/>
          </a:xfrm>
          <a:prstGeom prst="rect">
            <a:avLst/>
          </a:prstGeom>
          <a:noFill/>
          <a:ln/>
        </p:spPr>
        <p:txBody>
          <a:bodyPr wrap="square" lIns="0" tIns="0" rIns="0" bIns="0" rtlCol="0" anchor="ctr"/>
          <a:lstStyle/>
          <a:p>
            <a:pPr marL="0" indent="0">
              <a:buNone/>
            </a:pPr>
            <a:r>
              <a:rPr lang="en-US" sz="950" b="1" dirty="0">
                <a:solidFill>
                  <a:srgbClr val="4A148C"/>
                </a:solidFill>
                <a:latin typeface="Calibri" pitchFamily="34" charset="0"/>
                <a:ea typeface="Calibri" pitchFamily="34" charset="-122"/>
                <a:cs typeface="Calibri" pitchFamily="34" charset="-120"/>
              </a:rPr>
              <a:t>id  PK</a:t>
            </a:r>
            <a:endParaRPr lang="en-US" sz="950" dirty="0"/>
          </a:p>
        </p:txBody>
      </p:sp>
      <p:sp>
        <p:nvSpPr>
          <p:cNvPr id="63" name="Shape 61"/>
          <p:cNvSpPr/>
          <p:nvPr/>
        </p:nvSpPr>
        <p:spPr>
          <a:xfrm>
            <a:off x="6144768" y="3429000"/>
            <a:ext cx="2670048" cy="228600"/>
          </a:xfrm>
          <a:prstGeom prst="rect">
            <a:avLst/>
          </a:prstGeom>
          <a:solidFill>
            <a:srgbClr val="F0F0F0"/>
          </a:solidFill>
          <a:ln w="12700">
            <a:solidFill>
              <a:srgbClr val="F0F0F0"/>
            </a:solidFill>
            <a:prstDash val="solid"/>
          </a:ln>
        </p:spPr>
      </p:sp>
      <p:sp>
        <p:nvSpPr>
          <p:cNvPr id="64" name="Text 62"/>
          <p:cNvSpPr/>
          <p:nvPr/>
        </p:nvSpPr>
        <p:spPr>
          <a:xfrm>
            <a:off x="6199632" y="3447288"/>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version_name</a:t>
            </a:r>
            <a:endParaRPr lang="en-US" sz="950" dirty="0"/>
          </a:p>
        </p:txBody>
      </p:sp>
      <p:sp>
        <p:nvSpPr>
          <p:cNvPr id="65" name="Text 63"/>
          <p:cNvSpPr/>
          <p:nvPr/>
        </p:nvSpPr>
        <p:spPr>
          <a:xfrm>
            <a:off x="6199632" y="3675888"/>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release_notes</a:t>
            </a:r>
            <a:endParaRPr lang="en-US" sz="950" dirty="0"/>
          </a:p>
        </p:txBody>
      </p:sp>
      <p:sp>
        <p:nvSpPr>
          <p:cNvPr id="66" name="Shape 64"/>
          <p:cNvSpPr/>
          <p:nvPr/>
        </p:nvSpPr>
        <p:spPr>
          <a:xfrm>
            <a:off x="6144768" y="3886200"/>
            <a:ext cx="2670048" cy="228600"/>
          </a:xfrm>
          <a:prstGeom prst="rect">
            <a:avLst/>
          </a:prstGeom>
          <a:solidFill>
            <a:srgbClr val="F0F0F0"/>
          </a:solidFill>
          <a:ln w="12700">
            <a:solidFill>
              <a:srgbClr val="F0F0F0"/>
            </a:solidFill>
            <a:prstDash val="solid"/>
          </a:ln>
        </p:spPr>
      </p:sp>
      <p:sp>
        <p:nvSpPr>
          <p:cNvPr id="67" name="Text 65"/>
          <p:cNvSpPr/>
          <p:nvPr/>
        </p:nvSpPr>
        <p:spPr>
          <a:xfrm>
            <a:off x="6199632" y="3904488"/>
            <a:ext cx="2578608" cy="192024"/>
          </a:xfrm>
          <a:prstGeom prst="rect">
            <a:avLst/>
          </a:prstGeom>
          <a:noFill/>
          <a:ln/>
        </p:spPr>
        <p:txBody>
          <a:bodyPr wrap="square" lIns="0" tIns="0" rIns="0" bIns="0" rtlCol="0" anchor="ctr"/>
          <a:lstStyle/>
          <a:p>
            <a:pPr marL="0" indent="0">
              <a:buNone/>
            </a:pPr>
            <a:r>
              <a:rPr lang="en-US" sz="950" dirty="0">
                <a:solidFill>
                  <a:srgbClr val="263238"/>
                </a:solidFill>
                <a:latin typeface="Calibri" pitchFamily="34" charset="0"/>
                <a:ea typeface="Calibri" pitchFamily="34" charset="-122"/>
                <a:cs typeface="Calibri" pitchFamily="34" charset="-120"/>
              </a:rPr>
              <a:t>release_date</a:t>
            </a:r>
            <a:endParaRPr lang="en-US" sz="950" dirty="0"/>
          </a:p>
        </p:txBody>
      </p:sp>
      <p:sp>
        <p:nvSpPr>
          <p:cNvPr id="68" name="Text 66"/>
          <p:cNvSpPr/>
          <p:nvPr/>
        </p:nvSpPr>
        <p:spPr>
          <a:xfrm>
            <a:off x="6199632" y="4133088"/>
            <a:ext cx="2578608" cy="192024"/>
          </a:xfrm>
          <a:prstGeom prst="rect">
            <a:avLst/>
          </a:prstGeom>
          <a:noFill/>
          <a:ln/>
        </p:spPr>
        <p:txBody>
          <a:bodyPr wrap="square" lIns="0" tIns="0" rIns="0" bIns="0" rtlCol="0" anchor="ctr"/>
          <a:lstStyle/>
          <a:p>
            <a:pPr marL="0" indent="0">
              <a:buNone/>
            </a:pPr>
            <a:r>
              <a:rPr lang="en-US" sz="950" dirty="0">
                <a:solidFill>
                  <a:srgbClr val="E65100"/>
                </a:solidFill>
                <a:latin typeface="Calibri" pitchFamily="34" charset="0"/>
                <a:ea typeface="Calibri" pitchFamily="34" charset="-122"/>
                <a:cs typeface="Calibri" pitchFamily="34" charset="-120"/>
              </a:rPr>
              <a:t>app_id  FK -&gt; app</a:t>
            </a:r>
            <a:endParaRPr lang="en-US" sz="950" dirty="0"/>
          </a:p>
        </p:txBody>
      </p:sp>
      <p:sp>
        <p:nvSpPr>
          <p:cNvPr id="69" name="Shape 67"/>
          <p:cNvSpPr/>
          <p:nvPr/>
        </p:nvSpPr>
        <p:spPr>
          <a:xfrm>
            <a:off x="201168" y="4626864"/>
            <a:ext cx="8741664" cy="310896"/>
          </a:xfrm>
          <a:prstGeom prst="roundRect">
            <a:avLst>
              <a:gd name="adj" fmla="val 17647"/>
            </a:avLst>
          </a:prstGeom>
          <a:solidFill>
            <a:srgbClr val="EEF2FF"/>
          </a:solidFill>
          <a:ln w="6350">
            <a:solidFill>
              <a:srgbClr val="C7D2FE"/>
            </a:solidFill>
            <a:prstDash val="solid"/>
          </a:ln>
        </p:spPr>
      </p:sp>
      <p:sp>
        <p:nvSpPr>
          <p:cNvPr id="70" name="Text 68"/>
          <p:cNvSpPr/>
          <p:nvPr/>
        </p:nvSpPr>
        <p:spPr>
          <a:xfrm>
            <a:off x="292608" y="4645152"/>
            <a:ext cx="8558784" cy="256032"/>
          </a:xfrm>
          <a:prstGeom prst="rect">
            <a:avLst/>
          </a:prstGeom>
          <a:noFill/>
          <a:ln/>
        </p:spPr>
        <p:txBody>
          <a:bodyPr wrap="square" lIns="0" tIns="0" rIns="0" bIns="0" rtlCol="0" anchor="ctr"/>
          <a:lstStyle/>
          <a:p>
            <a:pPr marL="0" indent="0" algn="ctr">
              <a:buNone/>
            </a:pPr>
            <a:r>
              <a:rPr lang="en-US" sz="950" dirty="0">
                <a:solidFill>
                  <a:srgbClr val="1A237E"/>
                </a:solidFill>
                <a:latin typeface="Calibri" pitchFamily="34" charset="0"/>
                <a:ea typeface="Calibri" pitchFamily="34" charset="-122"/>
                <a:cs typeface="Calibri" pitchFamily="34" charset="-120"/>
              </a:rPr>
              <a:t>Key Relationships:  User 1:1 DeveloperProfile   |   User 1:N App   |   Category 1:N App   |   App 1:N Review, Download, AppVersion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69C26193-4AB7-78F0-3D87-FB8B6D8A976C}"/>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700879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2794FE63-34FB-6ED1-9E13-547C381FEEC9}"/>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135343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FD726C73-C13E-FB4A-4190-A42487701AB4}"/>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2582632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8740F328-6452-BAAB-3FF2-525989EAA670}"/>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2192768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0A7F1C93-0142-FAB0-8166-DA5E1708D4AB}"/>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4081617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AFBF3923-3FD1-2DEA-DDB5-E10096ACDDB4}"/>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1596328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0E52FAAD-BAA5-8035-F8D5-751B0A391156}"/>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304770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871719E1-E6EE-061F-1D3F-75BEB13467EC}"/>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3932064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F736D172-4AF8-AF9F-1FEF-D82275431FB2}"/>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3303710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ACAC3265-23DE-E636-28A0-7B4A5E13D4B2}"/>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3047589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3C6E72CE-08CC-9E91-3274-E110A27CBDA3}"/>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553461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6B090192-9531-AFA8-1B27-AEB234B24C55}"/>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1144672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F344CD40-229F-A993-8025-F991522A2423}"/>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365731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58FA0695-A22A-A713-543A-0E9E610F194A}"/>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1216831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B36A35B4-C106-4B83-83B7-C5B34FEC8FE2}"/>
              </a:ext>
            </a:extLst>
          </p:cNvPr>
          <p:cNvPicPr>
            <a:picLocks noChangeAspect="1"/>
          </p:cNvPicPr>
          <p:nvPr/>
        </p:nvPicPr>
        <p:blipFill>
          <a:blip r:embed="rId2"/>
          <a:stretch>
            <a:fillRect/>
          </a:stretch>
        </p:blipFill>
        <p:spPr>
          <a:xfrm>
            <a:off x="457200" y="0"/>
            <a:ext cx="8229600" cy="5143500"/>
          </a:xfrm>
          <a:prstGeom prst="rect">
            <a:avLst/>
          </a:prstGeom>
        </p:spPr>
      </p:pic>
    </p:spTree>
    <p:extLst>
      <p:ext uri="{BB962C8B-B14F-4D97-AF65-F5344CB8AC3E}">
        <p14:creationId xmlns:p14="http://schemas.microsoft.com/office/powerpoint/2010/main" val="3640313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1A237E"/>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5836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Future AI Enhancements</a:t>
            </a:r>
            <a:endParaRPr lang="en-US" sz="3200" dirty="0"/>
          </a:p>
        </p:txBody>
      </p:sp>
      <p:sp>
        <p:nvSpPr>
          <p:cNvPr id="3" name="Text 1"/>
          <p:cNvSpPr/>
          <p:nvPr/>
        </p:nvSpPr>
        <p:spPr>
          <a:xfrm>
            <a:off x="457200" y="804672"/>
            <a:ext cx="8229600" cy="274320"/>
          </a:xfrm>
          <a:prstGeom prst="rect">
            <a:avLst/>
          </a:prstGeom>
          <a:noFill/>
          <a:ln/>
        </p:spPr>
        <p:txBody>
          <a:bodyPr wrap="square" rtlCol="0" anchor="ctr"/>
          <a:lstStyle/>
          <a:p>
            <a:pPr marL="0" indent="0" algn="ctr">
              <a:buNone/>
            </a:pPr>
            <a:r>
              <a:rPr lang="en-US" sz="1400" i="1" dirty="0">
                <a:solidFill>
                  <a:srgbClr val="CADCFC"/>
                </a:solidFill>
                <a:latin typeface="Calibri" pitchFamily="34" charset="0"/>
                <a:ea typeface="Calibri" pitchFamily="34" charset="-122"/>
                <a:cs typeface="Calibri" pitchFamily="34" charset="-120"/>
              </a:rPr>
              <a:t>6 planned upgrades to make AppVerse AI smarter</a:t>
            </a:r>
            <a:endParaRPr lang="en-US" sz="1400" dirty="0"/>
          </a:p>
        </p:txBody>
      </p:sp>
      <p:sp>
        <p:nvSpPr>
          <p:cNvPr id="4" name="Shape 2"/>
          <p:cNvSpPr/>
          <p:nvPr/>
        </p:nvSpPr>
        <p:spPr>
          <a:xfrm>
            <a:off x="237744" y="1225296"/>
            <a:ext cx="2798064" cy="1682496"/>
          </a:xfrm>
          <a:prstGeom prst="roundRect">
            <a:avLst>
              <a:gd name="adj" fmla="val 5435"/>
            </a:avLst>
          </a:prstGeom>
          <a:solidFill>
            <a:srgbClr val="1565C0"/>
          </a:solidFill>
          <a:ln w="12700">
            <a:solidFill>
              <a:srgbClr val="1565C0"/>
            </a:solidFill>
            <a:prstDash val="solid"/>
          </a:ln>
          <a:effectLst>
            <a:outerShdw blurRad="101600" dist="38100" dir="2700000" algn="bl" rotWithShape="0">
              <a:srgbClr val="000000">
                <a:alpha val="20000"/>
              </a:srgbClr>
            </a:outerShdw>
          </a:effectLst>
        </p:spPr>
      </p:sp>
      <p:sp>
        <p:nvSpPr>
          <p:cNvPr id="5" name="Text 3"/>
          <p:cNvSpPr/>
          <p:nvPr/>
        </p:nvSpPr>
        <p:spPr>
          <a:xfrm>
            <a:off x="347472" y="1316736"/>
            <a:ext cx="2596896"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 App Recommendations</a:t>
            </a:r>
            <a:endParaRPr lang="en-US" sz="1300" dirty="0"/>
          </a:p>
        </p:txBody>
      </p:sp>
      <p:sp>
        <p:nvSpPr>
          <p:cNvPr id="6" name="Text 4"/>
          <p:cNvSpPr/>
          <p:nvPr/>
        </p:nvSpPr>
        <p:spPr>
          <a:xfrm>
            <a:off x="347472" y="1737360"/>
            <a:ext cx="2596896" cy="1097280"/>
          </a:xfrm>
          <a:prstGeom prst="rect">
            <a:avLst/>
          </a:prstGeom>
          <a:noFill/>
          <a:ln/>
        </p:spPr>
        <p:txBody>
          <a:bodyPr wrap="square" lIns="0" tIns="0" rIns="0" bIns="0" rtlCol="0" anchor="ctr"/>
          <a:lstStyle/>
          <a:p>
            <a:pPr marL="0" indent="0">
              <a:buNone/>
            </a:pPr>
            <a:r>
              <a:rPr lang="en-US" sz="1050" dirty="0">
                <a:solidFill>
                  <a:srgbClr val="DBEAFE"/>
                </a:solidFill>
                <a:latin typeface="Calibri" pitchFamily="34" charset="0"/>
                <a:ea typeface="Calibri" pitchFamily="34" charset="-122"/>
                <a:cs typeface="Calibri" pitchFamily="34" charset="-120"/>
              </a:rPr>
              <a:t>Use each users download history to recommend new apps. If User A and User B download similar apps, suggest User A what User B also downloaded — collaborative filtering logic.</a:t>
            </a:r>
            <a:endParaRPr lang="en-US" sz="1050" dirty="0"/>
          </a:p>
        </p:txBody>
      </p:sp>
      <p:sp>
        <p:nvSpPr>
          <p:cNvPr id="7" name="Shape 5"/>
          <p:cNvSpPr/>
          <p:nvPr/>
        </p:nvSpPr>
        <p:spPr>
          <a:xfrm>
            <a:off x="3145536" y="1225296"/>
            <a:ext cx="2798064" cy="1682496"/>
          </a:xfrm>
          <a:prstGeom prst="roundRect">
            <a:avLst>
              <a:gd name="adj" fmla="val 5435"/>
            </a:avLst>
          </a:prstGeom>
          <a:solidFill>
            <a:srgbClr val="00695C"/>
          </a:solidFill>
          <a:ln w="12700">
            <a:solidFill>
              <a:srgbClr val="00695C"/>
            </a:solidFill>
            <a:prstDash val="solid"/>
          </a:ln>
          <a:effectLst>
            <a:outerShdw blurRad="101600" dist="38100" dir="2700000" algn="bl" rotWithShape="0">
              <a:srgbClr val="000000">
                <a:alpha val="20000"/>
              </a:srgbClr>
            </a:outerShdw>
          </a:effectLst>
        </p:spPr>
      </p:sp>
      <p:sp>
        <p:nvSpPr>
          <p:cNvPr id="8" name="Text 6"/>
          <p:cNvSpPr/>
          <p:nvPr/>
        </p:nvSpPr>
        <p:spPr>
          <a:xfrm>
            <a:off x="3255264" y="1316736"/>
            <a:ext cx="2596896"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Auto Rating Calculation</a:t>
            </a:r>
            <a:endParaRPr lang="en-US" sz="1300" dirty="0"/>
          </a:p>
        </p:txBody>
      </p:sp>
      <p:sp>
        <p:nvSpPr>
          <p:cNvPr id="9" name="Text 7"/>
          <p:cNvSpPr/>
          <p:nvPr/>
        </p:nvSpPr>
        <p:spPr>
          <a:xfrm>
            <a:off x="3255264" y="1737360"/>
            <a:ext cx="2596896" cy="1097280"/>
          </a:xfrm>
          <a:prstGeom prst="rect">
            <a:avLst/>
          </a:prstGeom>
          <a:noFill/>
          <a:ln/>
        </p:spPr>
        <p:txBody>
          <a:bodyPr wrap="square" lIns="0" tIns="0" rIns="0" bIns="0" rtlCol="0" anchor="ctr"/>
          <a:lstStyle/>
          <a:p>
            <a:pPr marL="0" indent="0">
              <a:buNone/>
            </a:pPr>
            <a:r>
              <a:rPr lang="en-US" sz="1050" dirty="0">
                <a:solidFill>
                  <a:srgbClr val="DBEAFE"/>
                </a:solidFill>
                <a:latin typeface="Calibri" pitchFamily="34" charset="0"/>
                <a:ea typeface="Calibri" pitchFamily="34" charset="-122"/>
                <a:cs typeface="Calibri" pitchFamily="34" charset="-120"/>
              </a:rPr>
              <a:t>When a new review is posted, automatically recalculate and update the apps average rating. Currently averageRating is set manually in Postman.</a:t>
            </a:r>
            <a:endParaRPr lang="en-US" sz="1050" dirty="0"/>
          </a:p>
        </p:txBody>
      </p:sp>
      <p:sp>
        <p:nvSpPr>
          <p:cNvPr id="10" name="Shape 8"/>
          <p:cNvSpPr/>
          <p:nvPr/>
        </p:nvSpPr>
        <p:spPr>
          <a:xfrm>
            <a:off x="6053328" y="1225296"/>
            <a:ext cx="2798064" cy="1682496"/>
          </a:xfrm>
          <a:prstGeom prst="roundRect">
            <a:avLst>
              <a:gd name="adj" fmla="val 5435"/>
            </a:avLst>
          </a:prstGeom>
          <a:solidFill>
            <a:srgbClr val="4A148C"/>
          </a:solidFill>
          <a:ln w="12700">
            <a:solidFill>
              <a:srgbClr val="4A148C"/>
            </a:solidFill>
            <a:prstDash val="solid"/>
          </a:ln>
          <a:effectLst>
            <a:outerShdw blurRad="101600" dist="38100" dir="2700000" algn="bl" rotWithShape="0">
              <a:srgbClr val="000000">
                <a:alpha val="20000"/>
              </a:srgbClr>
            </a:outerShdw>
          </a:effectLst>
        </p:spPr>
      </p:sp>
      <p:sp>
        <p:nvSpPr>
          <p:cNvPr id="11" name="Text 9"/>
          <p:cNvSpPr/>
          <p:nvPr/>
        </p:nvSpPr>
        <p:spPr>
          <a:xfrm>
            <a:off x="6163056" y="1316736"/>
            <a:ext cx="2596896"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Email on Download</a:t>
            </a:r>
            <a:endParaRPr lang="en-US" sz="1300" dirty="0"/>
          </a:p>
        </p:txBody>
      </p:sp>
      <p:sp>
        <p:nvSpPr>
          <p:cNvPr id="12" name="Text 10"/>
          <p:cNvSpPr/>
          <p:nvPr/>
        </p:nvSpPr>
        <p:spPr>
          <a:xfrm>
            <a:off x="6163056" y="1737360"/>
            <a:ext cx="2596896" cy="1097280"/>
          </a:xfrm>
          <a:prstGeom prst="rect">
            <a:avLst/>
          </a:prstGeom>
          <a:noFill/>
          <a:ln/>
        </p:spPr>
        <p:txBody>
          <a:bodyPr wrap="square" lIns="0" tIns="0" rIns="0" bIns="0" rtlCol="0" anchor="ctr"/>
          <a:lstStyle/>
          <a:p>
            <a:pPr marL="0" indent="0">
              <a:buNone/>
            </a:pPr>
            <a:r>
              <a:rPr lang="en-US" sz="1050" dirty="0">
                <a:solidFill>
                  <a:srgbClr val="DBEAFE"/>
                </a:solidFill>
                <a:latin typeface="Calibri" pitchFamily="34" charset="0"/>
                <a:ea typeface="Calibri" pitchFamily="34" charset="-122"/>
                <a:cs typeface="Calibri" pitchFamily="34" charset="-120"/>
              </a:rPr>
              <a:t>Send an email alert to the developer whenever their app is downloaded. Implement using Spring Mail with Gmail SMTP configuration in application.properties.</a:t>
            </a:r>
            <a:endParaRPr lang="en-US" sz="1050" dirty="0"/>
          </a:p>
        </p:txBody>
      </p:sp>
      <p:sp>
        <p:nvSpPr>
          <p:cNvPr id="13" name="Shape 11"/>
          <p:cNvSpPr/>
          <p:nvPr/>
        </p:nvSpPr>
        <p:spPr>
          <a:xfrm>
            <a:off x="237744" y="3035808"/>
            <a:ext cx="2798064" cy="1682496"/>
          </a:xfrm>
          <a:prstGeom prst="roundRect">
            <a:avLst>
              <a:gd name="adj" fmla="val 5435"/>
            </a:avLst>
          </a:prstGeom>
          <a:solidFill>
            <a:srgbClr val="B71C1C"/>
          </a:solidFill>
          <a:ln w="12700">
            <a:solidFill>
              <a:srgbClr val="B71C1C"/>
            </a:solidFill>
            <a:prstDash val="solid"/>
          </a:ln>
          <a:effectLst>
            <a:outerShdw blurRad="101600" dist="38100" dir="2700000" algn="bl" rotWithShape="0">
              <a:srgbClr val="000000">
                <a:alpha val="20000"/>
              </a:srgbClr>
            </a:outerShdw>
          </a:effectLst>
        </p:spPr>
      </p:sp>
      <p:sp>
        <p:nvSpPr>
          <p:cNvPr id="14" name="Text 12"/>
          <p:cNvSpPr/>
          <p:nvPr/>
        </p:nvSpPr>
        <p:spPr>
          <a:xfrm>
            <a:off x="347472" y="3127248"/>
            <a:ext cx="2596896"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Advanced Search Filters</a:t>
            </a:r>
            <a:endParaRPr lang="en-US" sz="1300" dirty="0"/>
          </a:p>
        </p:txBody>
      </p:sp>
      <p:sp>
        <p:nvSpPr>
          <p:cNvPr id="15" name="Text 13"/>
          <p:cNvSpPr/>
          <p:nvPr/>
        </p:nvSpPr>
        <p:spPr>
          <a:xfrm>
            <a:off x="347472" y="3547872"/>
            <a:ext cx="2596896" cy="1097280"/>
          </a:xfrm>
          <a:prstGeom prst="rect">
            <a:avLst/>
          </a:prstGeom>
          <a:noFill/>
          <a:ln/>
        </p:spPr>
        <p:txBody>
          <a:bodyPr wrap="square" lIns="0" tIns="0" rIns="0" bIns="0" rtlCol="0" anchor="ctr"/>
          <a:lstStyle/>
          <a:p>
            <a:pPr marL="0" indent="0">
              <a:buNone/>
            </a:pPr>
            <a:r>
              <a:rPr lang="en-US" sz="1050" dirty="0">
                <a:solidFill>
                  <a:srgbClr val="DBEAFE"/>
                </a:solidFill>
                <a:latin typeface="Calibri" pitchFamily="34" charset="0"/>
                <a:ea typeface="Calibri" pitchFamily="34" charset="-122"/>
                <a:cs typeface="Calibri" pitchFamily="34" charset="-120"/>
              </a:rPr>
              <a:t>Add multi-filter search: filter by rating range, category, minimum downloads combined. Add sort options: newest first, most popular, highest rated.</a:t>
            </a:r>
            <a:endParaRPr lang="en-US" sz="1050" dirty="0"/>
          </a:p>
        </p:txBody>
      </p:sp>
      <p:sp>
        <p:nvSpPr>
          <p:cNvPr id="16" name="Shape 14"/>
          <p:cNvSpPr/>
          <p:nvPr/>
        </p:nvSpPr>
        <p:spPr>
          <a:xfrm>
            <a:off x="3145536" y="3035808"/>
            <a:ext cx="2798064" cy="1682496"/>
          </a:xfrm>
          <a:prstGeom prst="roundRect">
            <a:avLst>
              <a:gd name="adj" fmla="val 5435"/>
            </a:avLst>
          </a:prstGeom>
          <a:solidFill>
            <a:srgbClr val="1B5E20"/>
          </a:solidFill>
          <a:ln w="12700">
            <a:solidFill>
              <a:srgbClr val="1B5E20"/>
            </a:solidFill>
            <a:prstDash val="solid"/>
          </a:ln>
          <a:effectLst>
            <a:outerShdw blurRad="101600" dist="38100" dir="2700000" algn="bl" rotWithShape="0">
              <a:srgbClr val="000000">
                <a:alpha val="20000"/>
              </a:srgbClr>
            </a:outerShdw>
          </a:effectLst>
        </p:spPr>
      </p:sp>
      <p:sp>
        <p:nvSpPr>
          <p:cNvPr id="17" name="Text 15"/>
          <p:cNvSpPr/>
          <p:nvPr/>
        </p:nvSpPr>
        <p:spPr>
          <a:xfrm>
            <a:off x="3255264" y="3127248"/>
            <a:ext cx="2596896"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Admin Charts Dashboard</a:t>
            </a:r>
            <a:endParaRPr lang="en-US" sz="1300" dirty="0"/>
          </a:p>
        </p:txBody>
      </p:sp>
      <p:sp>
        <p:nvSpPr>
          <p:cNvPr id="18" name="Text 16"/>
          <p:cNvSpPr/>
          <p:nvPr/>
        </p:nvSpPr>
        <p:spPr>
          <a:xfrm>
            <a:off x="3255264" y="3547872"/>
            <a:ext cx="2596896" cy="1097280"/>
          </a:xfrm>
          <a:prstGeom prst="rect">
            <a:avLst/>
          </a:prstGeom>
          <a:noFill/>
          <a:ln/>
        </p:spPr>
        <p:txBody>
          <a:bodyPr wrap="square" lIns="0" tIns="0" rIns="0" bIns="0" rtlCol="0" anchor="ctr"/>
          <a:lstStyle/>
          <a:p>
            <a:pPr marL="0" indent="0">
              <a:buNone/>
            </a:pPr>
            <a:r>
              <a:rPr lang="en-US" sz="1050" dirty="0">
                <a:solidFill>
                  <a:srgbClr val="DBEAFE"/>
                </a:solidFill>
                <a:latin typeface="Calibri" pitchFamily="34" charset="0"/>
                <a:ea typeface="Calibri" pitchFamily="34" charset="-122"/>
                <a:cs typeface="Calibri" pitchFamily="34" charset="-120"/>
              </a:rPr>
              <a:t>Add bar and line charts to Admin Panel showing total downloads over time, monthly user registrations, most reviewed apps, and most active users.</a:t>
            </a:r>
            <a:endParaRPr lang="en-US" sz="1050" dirty="0"/>
          </a:p>
        </p:txBody>
      </p:sp>
      <p:sp>
        <p:nvSpPr>
          <p:cNvPr id="19" name="Shape 17"/>
          <p:cNvSpPr/>
          <p:nvPr/>
        </p:nvSpPr>
        <p:spPr>
          <a:xfrm>
            <a:off x="6053328" y="3035808"/>
            <a:ext cx="2798064" cy="1682496"/>
          </a:xfrm>
          <a:prstGeom prst="roundRect">
            <a:avLst>
              <a:gd name="adj" fmla="val 5435"/>
            </a:avLst>
          </a:prstGeom>
          <a:solidFill>
            <a:srgbClr val="E65100"/>
          </a:solidFill>
          <a:ln w="12700">
            <a:solidFill>
              <a:srgbClr val="E65100"/>
            </a:solidFill>
            <a:prstDash val="solid"/>
          </a:ln>
          <a:effectLst>
            <a:outerShdw blurRad="101600" dist="38100" dir="2700000" algn="bl" rotWithShape="0">
              <a:srgbClr val="000000">
                <a:alpha val="20000"/>
              </a:srgbClr>
            </a:outerShdw>
          </a:effectLst>
        </p:spPr>
      </p:sp>
      <p:sp>
        <p:nvSpPr>
          <p:cNvPr id="20" name="Text 18"/>
          <p:cNvSpPr/>
          <p:nvPr/>
        </p:nvSpPr>
        <p:spPr>
          <a:xfrm>
            <a:off x="6163056" y="3127248"/>
            <a:ext cx="2596896"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Refresh Token Support</a:t>
            </a:r>
            <a:endParaRPr lang="en-US" sz="1300" dirty="0"/>
          </a:p>
        </p:txBody>
      </p:sp>
      <p:sp>
        <p:nvSpPr>
          <p:cNvPr id="21" name="Text 19"/>
          <p:cNvSpPr/>
          <p:nvPr/>
        </p:nvSpPr>
        <p:spPr>
          <a:xfrm>
            <a:off x="6163056" y="3547872"/>
            <a:ext cx="2596896" cy="1097280"/>
          </a:xfrm>
          <a:prstGeom prst="rect">
            <a:avLst/>
          </a:prstGeom>
          <a:noFill/>
          <a:ln/>
        </p:spPr>
        <p:txBody>
          <a:bodyPr wrap="square" lIns="0" tIns="0" rIns="0" bIns="0" rtlCol="0" anchor="ctr"/>
          <a:lstStyle/>
          <a:p>
            <a:pPr marL="0" indent="0">
              <a:buNone/>
            </a:pPr>
            <a:r>
              <a:rPr lang="en-US" sz="1050" dirty="0">
                <a:solidFill>
                  <a:srgbClr val="DBEAFE"/>
                </a:solidFill>
                <a:latin typeface="Calibri" pitchFamily="34" charset="0"/>
                <a:ea typeface="Calibri" pitchFamily="34" charset="-122"/>
                <a:cs typeface="Calibri" pitchFamily="34" charset="-120"/>
              </a:rPr>
              <a:t>Add refresh token so users stay logged in beyond 10 hours without re-entering password. When access token expires, use refresh token to get a new one automatically.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9</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AppVerse AI</dc:title>
  <dc:subject>PptxGenJS Presentation</dc:subject>
  <dc:creator>Harini VS</dc:creator>
  <cp:lastModifiedBy>Harini VS</cp:lastModifiedBy>
  <cp:revision>58</cp:revision>
  <dcterms:created xsi:type="dcterms:W3CDTF">2026-06-17T19:16:06Z</dcterms:created>
  <dcterms:modified xsi:type="dcterms:W3CDTF">2026-06-17T19:31:12Z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c544ca-bb84-4280-906e-934547e1d30c_Enabled">
    <vt:lpwstr>True</vt:lpwstr>
  </property>
  <property fmtid="{D5CDD505-2E9C-101B-9397-08002B2CF9AE}" pid="3" name="MSIP_Label_a8c544ca-bb84-4280-906e-934547e1d30c_SiteId">
    <vt:lpwstr>258ac4e4-146a-411e-9dc8-79a9e12fd6da</vt:lpwstr>
  </property>
  <property fmtid="{D5CDD505-2E9C-101B-9397-08002B2CF9AE}" pid="4" name="MSIP_Label_a8c544ca-bb84-4280-906e-934547e1d30c_SetDate">
    <vt:lpwstr>2026-06-17T19:19:23Z</vt:lpwstr>
  </property>
  <property fmtid="{D5CDD505-2E9C-101B-9397-08002B2CF9AE}" pid="5" name="MSIP_Label_a8c544ca-bb84-4280-906e-934547e1d30c_Name">
    <vt:lpwstr>Internal - General Use</vt:lpwstr>
  </property>
  <property fmtid="{D5CDD505-2E9C-101B-9397-08002B2CF9AE}" pid="6" name="MSIP_Label_a8c544ca-bb84-4280-906e-934547e1d30c_ActionId">
    <vt:lpwstr>b698b7f2-8a1c-48e1-b8c5-01bf7c181264</vt:lpwstr>
  </property>
  <property fmtid="{D5CDD505-2E9C-101B-9397-08002B2CF9AE}" pid="7" name="MSIP_Label_a8c544ca-bb84-4280-906e-934547e1d30c_Removed">
    <vt:lpwstr>False</vt:lpwstr>
  </property>
  <property fmtid="{D5CDD505-2E9C-101B-9397-08002B2CF9AE}" pid="8" name="MSIP_Label_a8c544ca-bb84-4280-906e-934547e1d30c_Extended_MSFT_Method">
    <vt:lpwstr>Standard</vt:lpwstr>
  </property>
  <property fmtid="{D5CDD505-2E9C-101B-9397-08002B2CF9AE}" pid="9" name="Sensitivity">
    <vt:lpwstr>Internal - General Use</vt:lpwstr>
  </property>
</Properties>
</file>